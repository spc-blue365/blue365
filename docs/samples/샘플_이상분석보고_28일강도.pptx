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28일 압축강도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noFill/>
              </a:ln>
            </c:spPr>
          </c:marker>
          <c:cat>
            <c:strRef>
              <c:f>Sheet1!$A$2:$A$16</c:f>
              <c:strCache>
                <c:ptCount val="15"/>
                <c:pt idx="0">
                  <c:v>07/15</c:v>
                </c:pt>
                <c:pt idx="1">
                  <c:v>07/16</c:v>
                </c:pt>
                <c:pt idx="2">
                  <c:v>07/19</c:v>
                </c:pt>
                <c:pt idx="3">
                  <c:v>07/20</c:v>
                </c:pt>
                <c:pt idx="4">
                  <c:v>07/21</c:v>
                </c:pt>
                <c:pt idx="5">
                  <c:v>07/22</c:v>
                </c:pt>
                <c:pt idx="6">
                  <c:v>07/23</c:v>
                </c:pt>
                <c:pt idx="7">
                  <c:v>07/24</c:v>
                </c:pt>
                <c:pt idx="8">
                  <c:v>07/25</c:v>
                </c:pt>
                <c:pt idx="9">
                  <c:v>07/26</c:v>
                </c:pt>
                <c:pt idx="10">
                  <c:v>07/27</c:v>
                </c:pt>
                <c:pt idx="11">
                  <c:v>07/28</c:v>
                </c:pt>
                <c:pt idx="12">
                  <c:v>07/29</c:v>
                </c:pt>
                <c:pt idx="13">
                  <c:v>07/30</c:v>
                </c:pt>
                <c:pt idx="14">
                  <c:v>07/31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53.561</c:v>
                </c:pt>
                <c:pt idx="1">
                  <c:v>54.411</c:v>
                </c:pt>
                <c:pt idx="2">
                  <c:v>53.463</c:v>
                </c:pt>
                <c:pt idx="3">
                  <c:v>52.428</c:v>
                </c:pt>
                <c:pt idx="4">
                  <c:v>53.26</c:v>
                </c:pt>
                <c:pt idx="5">
                  <c:v>49.771</c:v>
                </c:pt>
                <c:pt idx="6">
                  <c:v>48.797</c:v>
                </c:pt>
                <c:pt idx="7">
                  <c:v>49.583</c:v>
                </c:pt>
                <c:pt idx="8">
                  <c:v>49.658</c:v>
                </c:pt>
                <c:pt idx="9">
                  <c:v>48.501</c:v>
                </c:pt>
                <c:pt idx="10">
                  <c:v>49.402</c:v>
                </c:pt>
                <c:pt idx="11">
                  <c:v>52.598</c:v>
                </c:pt>
                <c:pt idx="12">
                  <c:v>52.448</c:v>
                </c:pt>
                <c:pt idx="13">
                  <c:v>52.954</c:v>
                </c:pt>
                <c:pt idx="14">
                  <c:v>55.239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사내 하한 48</c:v>
                </c:pt>
              </c:strCache>
            </c:strRef>
          </c:tx>
          <c:spPr>
            <a:ln w="15875">
              <a:solidFill>
                <a:srgbClr val="EC835A"/>
              </a:solidFill>
              <a:prstDash val="dash"/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07/15</c:v>
                </c:pt>
                <c:pt idx="1">
                  <c:v>07/16</c:v>
                </c:pt>
                <c:pt idx="2">
                  <c:v>07/19</c:v>
                </c:pt>
                <c:pt idx="3">
                  <c:v>07/20</c:v>
                </c:pt>
                <c:pt idx="4">
                  <c:v>07/21</c:v>
                </c:pt>
                <c:pt idx="5">
                  <c:v>07/22</c:v>
                </c:pt>
                <c:pt idx="6">
                  <c:v>07/23</c:v>
                </c:pt>
                <c:pt idx="7">
                  <c:v>07/24</c:v>
                </c:pt>
                <c:pt idx="8">
                  <c:v>07/25</c:v>
                </c:pt>
                <c:pt idx="9">
                  <c:v>07/26</c:v>
                </c:pt>
                <c:pt idx="10">
                  <c:v>07/27</c:v>
                </c:pt>
                <c:pt idx="11">
                  <c:v>07/28</c:v>
                </c:pt>
                <c:pt idx="12">
                  <c:v>07/29</c:v>
                </c:pt>
                <c:pt idx="13">
                  <c:v>07/30</c:v>
                </c:pt>
                <c:pt idx="14">
                  <c:v>07/31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48.0</c:v>
                </c:pt>
                <c:pt idx="1">
                  <c:v>48.0</c:v>
                </c:pt>
                <c:pt idx="2">
                  <c:v>48.0</c:v>
                </c:pt>
                <c:pt idx="3">
                  <c:v>48.0</c:v>
                </c:pt>
                <c:pt idx="4">
                  <c:v>48.0</c:v>
                </c:pt>
                <c:pt idx="5">
                  <c:v>48.0</c:v>
                </c:pt>
                <c:pt idx="6">
                  <c:v>48.0</c:v>
                </c:pt>
                <c:pt idx="7">
                  <c:v>48.0</c:v>
                </c:pt>
                <c:pt idx="8">
                  <c:v>48.0</c:v>
                </c:pt>
                <c:pt idx="9">
                  <c:v>48.0</c:v>
                </c:pt>
                <c:pt idx="10">
                  <c:v>48.0</c:v>
                </c:pt>
                <c:pt idx="11">
                  <c:v>48.0</c:v>
                </c:pt>
                <c:pt idx="12">
                  <c:v>48.0</c:v>
                </c:pt>
                <c:pt idx="13">
                  <c:v>48.0</c:v>
                </c:pt>
                <c:pt idx="14">
                  <c:v>48.0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KS 하한 42.5</c:v>
                </c:pt>
              </c:strCache>
            </c:strRef>
          </c:tx>
          <c:spPr>
            <a:ln w="15875">
              <a:solidFill>
                <a:srgbClr val="D03B3B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07/15</c:v>
                </c:pt>
                <c:pt idx="1">
                  <c:v>07/16</c:v>
                </c:pt>
                <c:pt idx="2">
                  <c:v>07/19</c:v>
                </c:pt>
                <c:pt idx="3">
                  <c:v>07/20</c:v>
                </c:pt>
                <c:pt idx="4">
                  <c:v>07/21</c:v>
                </c:pt>
                <c:pt idx="5">
                  <c:v>07/22</c:v>
                </c:pt>
                <c:pt idx="6">
                  <c:v>07/23</c:v>
                </c:pt>
                <c:pt idx="7">
                  <c:v>07/24</c:v>
                </c:pt>
                <c:pt idx="8">
                  <c:v>07/25</c:v>
                </c:pt>
                <c:pt idx="9">
                  <c:v>07/26</c:v>
                </c:pt>
                <c:pt idx="10">
                  <c:v>07/27</c:v>
                </c:pt>
                <c:pt idx="11">
                  <c:v>07/28</c:v>
                </c:pt>
                <c:pt idx="12">
                  <c:v>07/29</c:v>
                </c:pt>
                <c:pt idx="13">
                  <c:v>07/30</c:v>
                </c:pt>
                <c:pt idx="14">
                  <c:v>07/31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42.5</c:v>
                </c:pt>
                <c:pt idx="1">
                  <c:v>42.5</c:v>
                </c:pt>
                <c:pt idx="2">
                  <c:v>42.5</c:v>
                </c:pt>
                <c:pt idx="3">
                  <c:v>42.5</c:v>
                </c:pt>
                <c:pt idx="4">
                  <c:v>42.5</c:v>
                </c:pt>
                <c:pt idx="5">
                  <c:v>42.5</c:v>
                </c:pt>
                <c:pt idx="6">
                  <c:v>42.5</c:v>
                </c:pt>
                <c:pt idx="7">
                  <c:v>42.5</c:v>
                </c:pt>
                <c:pt idx="8">
                  <c:v>42.5</c:v>
                </c:pt>
                <c:pt idx="9">
                  <c:v>42.5</c:v>
                </c:pt>
                <c:pt idx="10">
                  <c:v>42.5</c:v>
                </c:pt>
                <c:pt idx="11">
                  <c:v>42.5</c:v>
                </c:pt>
                <c:pt idx="12">
                  <c:v>42.5</c:v>
                </c:pt>
                <c:pt idx="13">
                  <c:v>42.5</c:v>
                </c:pt>
                <c:pt idx="14">
                  <c:v>42.5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0BEC5"/>
            </a:solidFill>
          </a:ln>
        </c:spPr>
        <c:txPr>
          <a:bodyPr/>
          <a:lstStyle/>
          <a:p>
            <a:pPr>
              <a:defRPr sz="9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.0"/>
          <c:min val="40.0"/>
        </c:scaling>
        <c:delete val="0"/>
        <c:axPos val="l"/>
        <c:majorGridlines>
          <c:spPr>
            <a:ln>
              <a:solidFill>
                <a:srgbClr val="E3E7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 i="0">
                    <a:solidFill>
                      <a:srgbClr val="5F6B73"/>
                    </a:solidFill>
                    <a:latin typeface="맑은 고딕"/>
                    <a:ea typeface="맑은 고딕"/>
                    <a:cs typeface="맑은 고딕"/>
                  </a:rPr>
                  <a:t>MPa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 b="0" i="0">
              <a:solidFill>
                <a:srgbClr val="5F6B73"/>
              </a:solidFill>
              <a:latin typeface="맑은 고딕"/>
              <a:ea typeface="맑은 고딕"/>
              <a:cs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 b="0" i="0">
          <a:solidFill>
            <a:srgbClr val="5F6B73"/>
          </a:solidFill>
          <a:latin typeface="맑은 고딕"/>
          <a:ea typeface="맑은 고딕"/>
          <a:cs typeface="맑은 고딕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이상 분석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FFCCBC"/>
                </a:solidFill>
                <a:latin typeface="맑은 고딕"/>
                <a:ea typeface="맑은 고딕"/>
                <a:cs typeface="맑은 고딕"/>
              </a:rPr>
              <a:t>[1종] 28일 압축강도 저하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FD8DC"/>
                </a:solidFill>
                <a:latin typeface="맑은 고딕"/>
                <a:ea typeface="맑은 고딕"/>
                <a:cs typeface="맑은 고딕"/>
              </a:rPr>
              <a:t>2026-07-22 12:00 ~ 2026-07-30 12:00 · 심각도 주의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0BEC5"/>
                </a:solidFill>
                <a:latin typeface="맑은 고딕"/>
                <a:ea typeface="맑은 고딕"/>
                <a:cs typeface="맑은 고딕"/>
              </a:rPr>
              <a:t>품질관리팀 · Blue365 QMS 자동 생성 — 현장 확인 후 확정 필요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① 현상 정의와 정량화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2410C"/>
                </a:solidFill>
                <a:latin typeface="맑은 고딕"/>
                <a:ea typeface="맑은 고딕"/>
                <a:cs typeface="맑은 고딕"/>
              </a:rPr>
              <a:t>중심선 한쪽 연속 9점(평균 이동) — 28일 압축강도</a:t>
            </a:r>
          </a:p>
        </p:txBody>
      </p:sp>
      <p:graphicFrame>
        <p:nvGraphicFramePr>
          <p:cNvPr id="4" name="Item chart"/>
          <p:cNvGraphicFramePr>
            <a:graphicFrameLocks noGrp="1"/>
          </p:cNvGraphicFramePr>
          <p:nvPr/>
        </p:nvGraphicFramePr>
        <p:xfrm>
          <a:off x="548640" y="1554480"/>
          <a:ext cx="722376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Quant card"/>
          <p:cNvSpPr/>
          <p:nvPr/>
        </p:nvSpPr>
        <p:spPr>
          <a:xfrm>
            <a:off x="8046720" y="1600200"/>
            <a:ext cx="3611880" cy="46177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783080"/>
            <a:ext cx="3291840" cy="4389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정량 요약(사실)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기간: 07/22 12:00 ~ 07/30 12:00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구간 9점 중 6점 관리한계 이탈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구간 평균 50.4 MPa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기준기간 평균 53.0 (Δ -2.6, -2.3σ)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최소값 48.5 MPa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영향: KS L 5201 강도 기준 여유 감소 → 레미콘 배합 강도 확보 문제·고객 클레임 위험. 28일 결과는 생산 후 28일 뒤 확인되므로 조기강도·화학 지표로 선제 대응이 중요.</a:t>
            </a:r>
          </a:p>
        </p:txBody>
      </p:sp>
      <p:sp>
        <p:nvSpPr>
          <p:cNvPr id="7" name="Source note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출처: Blue365 QMS 자동 진단(2026-10-07 05:55) · KS L 5201 포틀랜드 시멘트 · 차트: 이벤트 전 7일 ~ 후 3일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② 원인 가설 우선순위 · ③ 확인 방법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2410C"/>
                </a:solidFill>
                <a:latin typeface="맑은 고딕"/>
                <a:ea typeface="맑은 고딕"/>
                <a:cs typeface="맑은 고딕"/>
              </a:rPr>
              <a:t>1순위 원인: [공정] 소성 부족(소성대 온도·열량 부족) (데이터 지지, 근거 점수 100)</a:t>
            </a:r>
          </a:p>
        </p:txBody>
      </p:sp>
      <p:graphicFrame>
        <p:nvGraphicFramePr>
          <p:cNvPr id="4" name="Hypothesis table"/>
          <p:cNvGraphicFramePr>
            <a:graphicFrameLocks noGrp="1"/>
          </p:cNvGraphicFramePr>
          <p:nvPr/>
        </p:nvGraphicFramePr>
        <p:xfrm>
          <a:off x="548640" y="16002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777240"/>
                <a:gridCol w="2377440"/>
                <a:gridCol w="1234440"/>
                <a:gridCol w="3794760"/>
                <a:gridCol w="23774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순위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가설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데이터 근거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방법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소성 부족(소성대 온도·열량 부족)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지지</a:t>
                      </a:r>
                    </a:p>
                  </a:txBody>
                  <a:tcPr marL="54864" marR="54864" marT="18288" marB="18288"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 자유석회(f-CaO): 기준 1.06 → 구간 1.94 % (Δ +0.88, +3.7σ)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킬른 운전 추이(소성대 온도·주모터 부하·2차 공기 온도) 확인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화학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 C₃S 저하(광물 조성 변화)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지지</a:t>
                      </a:r>
                    </a:p>
                  </a:txBody>
                  <a:tcPr marL="54864" marR="54864" marT="18288" marB="18288"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 C₃S(Bogue): 기준 57.3 → 구간 53.4 % (Δ -3.9, -3.7σ)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기간 클링커 XRF 재분석·Bogue C₃S 확인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클링커 냉각 불량(냉각기)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지지</a:t>
                      </a:r>
                    </a:p>
                  </a:txBody>
                  <a:tcPr marL="54864" marR="54864" marT="18288" marB="18288"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공기 온도: 기준 1,054 → 구간 1,011 ℃ (Δ -43, -2.7σ)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냉각기 그레이트 속도·냉각 팬 풍량 확인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분말도 저하·입도분포 조대화(분쇄 공정)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5F6B7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약함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연관 지표 변화 없음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Blaine·45μm 잔사 재측정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SO₃(석고) 최적치 이탈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5F6B7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약함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연관 지표 변화 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SO₃ 재분석(XRF ↔ 중량법 KS L 5120 교차)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시험오차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28일 강도 시험 조건 이탈·시험 오차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5F6B7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약함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연관 지표 변화 없음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양생수조 온도 기록 확인</a:t>
                      </a:r>
                    </a:p>
                  </a:txBody>
                  <a:tcPr marL="54864" marR="54864" marT="18288" marB="18288" anchor="ctr">
                    <a:solidFill>
                      <a:srgbClr val="F7F8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생료 화학 변동 증가(LSF 변동성)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5F6B7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약함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연관 지표 변화 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생료 LSF 시간대별 표준편차 확인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 note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판정: 데이터 지지 = 예상 변화가 측정 데이터로 확인됨(사실, 인과는 현장 확인으로 확정) · 데이터 없음 = 경험칙 추정 · 반증 = 데이터에 예상 변화 없음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④ 단기 조치 vs 근본 대책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2410C"/>
                </a:solidFill>
                <a:latin typeface="맑은 고딕"/>
                <a:ea typeface="맑은 고딕"/>
                <a:cs typeface="맑은 고딕"/>
              </a:rPr>
              <a:t>단기 조치로 영향 확산을 막고, 근본 대책으로 재발을 방지합니다</a:t>
            </a:r>
          </a:p>
        </p:txBody>
      </p:sp>
      <p:sp>
        <p:nvSpPr>
          <p:cNvPr id="4" name="Action card 1"/>
          <p:cNvSpPr/>
          <p:nvPr/>
        </p:nvSpPr>
        <p:spPr>
          <a:xfrm>
            <a:off x="548640" y="160020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5029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C2410C"/>
                </a:solidFill>
                <a:latin typeface="맑은 고딕"/>
                <a:ea typeface="맑은 고딕"/>
                <a:cs typeface="맑은 고딕"/>
              </a:rPr>
              <a:t>단기 조치 (수일 이내)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5029200" cy="329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f-CaO 기준 초과 클링커 분리 저장 또는 혼합 비율 제한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소성 강화(연료·버너 조정) 및 원료 투입량 일시 감량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분말도 상향(+100~150 cm²/g)으로 강도 보상(밀 생산성 저하 감수)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해당 클링커 사용 제품의 3·7일 강도 추적 강화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냉각기 운전 조건(그레이트 속도·풍량) 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532120"/>
            <a:ext cx="50292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관련 원인: [공정] 소성 부족(소성대 온도·열량 부족), [설비] 클링커 냉각 불량(냉각기), [화학] 클링커 C₃S 저하(광물 조성 변화)</a:t>
            </a:r>
          </a:p>
        </p:txBody>
      </p:sp>
      <p:sp>
        <p:nvSpPr>
          <p:cNvPr id="8" name="Action card 2"/>
          <p:cNvSpPr/>
          <p:nvPr/>
        </p:nvSpPr>
        <p:spPr>
          <a:xfrm>
            <a:off x="6172200" y="160020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55648"/>
            <a:ext cx="5029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근본 대책 (재발 방지)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5029200" cy="329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석탄 입고 품질 기준(발열량 하한) 및 혼탄 관리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f-CaO 기반 소성 피드백 운전 기준서 수립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버너 화염 형상 점검·개선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생료 LSF 목표·변동(σ) 관리 강화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소성 운전 기준(소성대 온도·O₂·f-CaO 피드백) 표준화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냉각기 정비(그레이트 플레이트·팬) 계획 반영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532120"/>
            <a:ext cx="50292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관련 원인: [공정] 소성 부족(소성대 온도·열량 부족), [설비] 클링커 냉각 불량(냉각기), [화학] 클링커 C₃S 저하(광물 조성 변화)</a:t>
            </a:r>
          </a:p>
        </p:txBody>
      </p:sp>
      <p:sp>
        <p:nvSpPr>
          <p:cNvPr id="12" name="Source note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출처: Blue365 QMS 자동 진단(2026-10-07 05:55) · KS L 5201 포틀랜드 시멘트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⑤ KS 규격·사내 관리기준 대비 평가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2410C"/>
                </a:solidFill>
                <a:latin typeface="맑은 고딕"/>
                <a:ea typeface="맑은 고딕"/>
                <a:cs typeface="맑은 고딕"/>
              </a:rPr>
              <a:t>KS 규격 대비 판정 결과</a:t>
            </a:r>
          </a:p>
        </p:txBody>
      </p:sp>
      <p:graphicFrame>
        <p:nvGraphicFramePr>
          <p:cNvPr id="4" name="KS table"/>
          <p:cNvGraphicFramePr>
            <a:graphicFrameLocks noGrp="1"/>
          </p:cNvGraphicFramePr>
          <p:nvPr/>
        </p:nvGraphicFramePr>
        <p:xfrm>
          <a:off x="548640" y="1600200"/>
          <a:ext cx="110642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48640"/>
                <a:gridCol w="1600200"/>
                <a:gridCol w="731520"/>
                <a:gridCol w="1234440"/>
                <a:gridCol w="960120"/>
                <a:gridCol w="2240280"/>
                <a:gridCol w="960120"/>
                <a:gridCol w="12344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품종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구간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최소~최대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KS 기준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KS 판정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기준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사내기준 판정</a:t>
                      </a:r>
                    </a:p>
                  </a:txBody>
                  <a:tcPr marL="54864" marR="54864" marT="18288" marB="18288" anchor="ctr">
                    <a:solidFill>
                      <a:srgbClr val="2632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28일 압축강도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07/22 12:00 ~ 07/30 12:00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48.5 ~ 53.0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42.5 이상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적합 (하한 여유 +6.0 MPa)</a:t>
                      </a:r>
                    </a:p>
                  </a:txBody>
                  <a:tcPr marL="54864" marR="54864" marT="18288" marB="18288"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48.0 이상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A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KPI KS 규격"/>
          <p:cNvSpPr/>
          <p:nvPr/>
        </p:nvSpPr>
        <p:spPr>
          <a:xfrm>
            <a:off x="548640" y="29260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KS 규격</a:t>
            </a:r>
          </a:p>
        </p:txBody>
      </p:sp>
      <p:sp>
        <p:nvSpPr>
          <p:cNvPr id="7" name="Status 양호"/>
          <p:cNvSpPr/>
          <p:nvPr/>
        </p:nvSpPr>
        <p:spPr>
          <a:xfrm>
            <a:off x="2971800" y="3081528"/>
            <a:ext cx="96012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3081528"/>
            <a:ext cx="96012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CA30C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1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양호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3200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적합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평가 항목 모두 규격 이내</a:t>
            </a:r>
          </a:p>
        </p:txBody>
      </p:sp>
      <p:sp>
        <p:nvSpPr>
          <p:cNvPr id="11" name="KPI 사내 관리기준"/>
          <p:cNvSpPr/>
          <p:nvPr/>
        </p:nvSpPr>
        <p:spPr>
          <a:xfrm>
            <a:off x="4297679" y="29260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306324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사내 관리기준</a:t>
            </a:r>
          </a:p>
        </p:txBody>
      </p:sp>
      <p:sp>
        <p:nvSpPr>
          <p:cNvPr id="13" name="Status 양호"/>
          <p:cNvSpPr/>
          <p:nvPr/>
        </p:nvSpPr>
        <p:spPr>
          <a:xfrm>
            <a:off x="6720840" y="3081528"/>
            <a:ext cx="96012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3081528"/>
            <a:ext cx="96012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CA30C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1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양호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429000"/>
            <a:ext cx="3200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적합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420624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관리기준 이내</a:t>
            </a:r>
          </a:p>
        </p:txBody>
      </p:sp>
      <p:sp>
        <p:nvSpPr>
          <p:cNvPr id="17" name="KPI 후속 판단"/>
          <p:cNvSpPr/>
          <p:nvPr/>
        </p:nvSpPr>
        <p:spPr>
          <a:xfrm>
            <a:off x="8046719" y="29260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306324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후속 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429000"/>
            <a:ext cx="3200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30"/>
                </a:solidFill>
                <a:latin typeface="맑은 고딕"/>
                <a:ea typeface="맑은 고딕"/>
                <a:cs typeface="맑은 고딕"/>
              </a:rPr>
              <a:t>공정 조치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420624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원인 조치 후 재발 여부 모니터링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근거: KS L 5201 포틀랜드 시멘트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KS 값은 KS L 5201 요약(한국시멘트협회·e나라표준인증) 기준 — 최신 개정 원문 대조 권장</a:t>
            </a:r>
          </a:p>
        </p:txBody>
      </p:sp>
      <p:sp>
        <p:nvSpPr>
          <p:cNvPr id="22" name="Source note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B73"/>
                </a:solidFill>
                <a:latin typeface="맑은 고딕"/>
                <a:ea typeface="맑은 고딕"/>
                <a:cs typeface="맑은 고딕"/>
              </a:rPr>
              <a:t>출처: Blue365 QMS 자동 진단(2026-10-07 05:55) · KS L 5201 포틀랜드 시멘트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품질 이상 분석 보고</dc:title>
  <dc:subject/>
  <dc:creator>Blue365 QMS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