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28일 실측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noFill/>
              </a:ln>
            </c:spPr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51.242</c:v>
                </c:pt>
                <c:pt idx="1">
                  <c:v>51.541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28일 예측(미도래)</c:v>
                </c:pt>
              </c:strCache>
            </c:strRef>
          </c:tx>
          <c:spPr>
            <a:ln w="25400">
              <a:solidFill>
                <a:srgbClr val="6DA7EC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6DA7EC"/>
              </a:solidFill>
              <a:ln>
                <a:noFill/>
              </a:ln>
            </c:spPr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2">
                  <c:v>52.26949894330148</c:v>
                </c:pt>
                <c:pt idx="3">
                  <c:v>52.18231188668855</c:v>
                </c:pt>
                <c:pt idx="4">
                  <c:v>51.070773143549665</c:v>
                </c:pt>
                <c:pt idx="5">
                  <c:v>52.146444126684486</c:v>
                </c:pt>
                <c:pt idx="6">
                  <c:v>53.56238413164693</c:v>
                </c:pt>
                <c:pt idx="7">
                  <c:v>55.01006704656119</c:v>
                </c:pt>
                <c:pt idx="8">
                  <c:v>48.717985282273126</c:v>
                </c:pt>
                <c:pt idx="9">
                  <c:v>46.21825815938287</c:v>
                </c:pt>
                <c:pt idx="10">
                  <c:v>46.249852012515404</c:v>
                </c:pt>
                <c:pt idx="11">
                  <c:v>46.43514155290816</c:v>
                </c:pt>
                <c:pt idx="12">
                  <c:v>46.67757348426135</c:v>
                </c:pt>
                <c:pt idx="13">
                  <c:v>48.25470140315537</c:v>
                </c:pt>
                <c:pt idx="14">
                  <c:v>53.598271893600824</c:v>
                </c:pt>
                <c:pt idx="15">
                  <c:v>52.39852272035027</c:v>
                </c:pt>
                <c:pt idx="16">
                  <c:v>52.11309981372984</c:v>
                </c:pt>
                <c:pt idx="17">
                  <c:v>52.19191990937734</c:v>
                </c:pt>
                <c:pt idx="18">
                  <c:v>52.71532040531642</c:v>
                </c:pt>
                <c:pt idx="19">
                  <c:v>52.72518519575468</c:v>
                </c:pt>
                <c:pt idx="20">
                  <c:v>52.69686093501131</c:v>
                </c:pt>
                <c:pt idx="21">
                  <c:v>52.761106332033485</c:v>
                </c:pt>
                <c:pt idx="22">
                  <c:v>52.0739324504002</c:v>
                </c:pt>
                <c:pt idx="23">
                  <c:v>51.80223858351792</c:v>
                </c:pt>
                <c:pt idx="24">
                  <c:v>51.96433926573796</c:v>
                </c:pt>
                <c:pt idx="25">
                  <c:v>52.89530991944777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사내 하한 48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48.0</c:v>
                </c:pt>
                <c:pt idx="1">
                  <c:v>48.0</c:v>
                </c:pt>
                <c:pt idx="2">
                  <c:v>48.0</c:v>
                </c:pt>
                <c:pt idx="3">
                  <c:v>48.0</c:v>
                </c:pt>
                <c:pt idx="4">
                  <c:v>48.0</c:v>
                </c:pt>
                <c:pt idx="5">
                  <c:v>48.0</c:v>
                </c:pt>
                <c:pt idx="6">
                  <c:v>48.0</c:v>
                </c:pt>
                <c:pt idx="7">
                  <c:v>48.0</c:v>
                </c:pt>
                <c:pt idx="8">
                  <c:v>48.0</c:v>
                </c:pt>
                <c:pt idx="9">
                  <c:v>48.0</c:v>
                </c:pt>
                <c:pt idx="10">
                  <c:v>48.0</c:v>
                </c:pt>
                <c:pt idx="11">
                  <c:v>48.0</c:v>
                </c:pt>
                <c:pt idx="12">
                  <c:v>48.0</c:v>
                </c:pt>
                <c:pt idx="13">
                  <c:v>48.0</c:v>
                </c:pt>
                <c:pt idx="14">
                  <c:v>48.0</c:v>
                </c:pt>
                <c:pt idx="15">
                  <c:v>48.0</c:v>
                </c:pt>
                <c:pt idx="16">
                  <c:v>48.0</c:v>
                </c:pt>
                <c:pt idx="17">
                  <c:v>48.0</c:v>
                </c:pt>
                <c:pt idx="18">
                  <c:v>48.0</c:v>
                </c:pt>
                <c:pt idx="19">
                  <c:v>48.0</c:v>
                </c:pt>
                <c:pt idx="20">
                  <c:v>48.0</c:v>
                </c:pt>
                <c:pt idx="21">
                  <c:v>48.0</c:v>
                </c:pt>
                <c:pt idx="22">
                  <c:v>48.0</c:v>
                </c:pt>
                <c:pt idx="23">
                  <c:v>48.0</c:v>
                </c:pt>
                <c:pt idx="24">
                  <c:v>48.0</c:v>
                </c:pt>
                <c:pt idx="25">
                  <c:v>48.0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KS 하한 42.5</c:v>
                </c:pt>
              </c:strCache>
            </c:strRef>
          </c:tx>
          <c:spPr>
            <a:ln w="15875">
              <a:solidFill>
                <a:srgbClr val="D03B3B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42.5</c:v>
                </c:pt>
                <c:pt idx="1">
                  <c:v>42.5</c:v>
                </c:pt>
                <c:pt idx="2">
                  <c:v>42.5</c:v>
                </c:pt>
                <c:pt idx="3">
                  <c:v>42.5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42.5</c:v>
                </c:pt>
                <c:pt idx="11">
                  <c:v>42.5</c:v>
                </c:pt>
                <c:pt idx="12">
                  <c:v>42.5</c:v>
                </c:pt>
                <c:pt idx="13">
                  <c:v>42.5</c:v>
                </c:pt>
                <c:pt idx="14">
                  <c:v>42.5</c:v>
                </c:pt>
                <c:pt idx="15">
                  <c:v>42.5</c:v>
                </c:pt>
                <c:pt idx="16">
                  <c:v>42.5</c:v>
                </c:pt>
                <c:pt idx="17">
                  <c:v>42.5</c:v>
                </c:pt>
                <c:pt idx="18">
                  <c:v>42.5</c:v>
                </c:pt>
                <c:pt idx="19">
                  <c:v>42.5</c:v>
                </c:pt>
                <c:pt idx="20">
                  <c:v>42.5</c:v>
                </c:pt>
                <c:pt idx="21">
                  <c:v>42.5</c:v>
                </c:pt>
                <c:pt idx="22">
                  <c:v>42.5</c:v>
                </c:pt>
                <c:pt idx="23">
                  <c:v>42.5</c:v>
                </c:pt>
                <c:pt idx="24">
                  <c:v>42.5</c:v>
                </c:pt>
                <c:pt idx="25">
                  <c:v>42.5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EC5"/>
            </a:solidFill>
          </a:ln>
        </c:spPr>
        <c:txPr>
          <a:bodyPr/>
          <a:lstStyle/>
          <a:p>
            <a:pPr>
              <a:defRPr sz="9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2140495176"/>
        <c:scaling>
          <c:max val="60.0"/>
          <c:min val="40.0"/>
        </c:scaling>
        <c:delete val="0"/>
        <c:axPos val="l"/>
        <c:majorGridlines>
          <c:spPr>
            <a:ln>
              <a:solidFill>
                <a:srgbClr val="E3E7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5F6B73"/>
                    </a:solidFill>
                    <a:latin typeface="맑은 고딕"/>
                    <a:ea typeface="맑은 고딕"/>
                    <a:cs typeface="맑은 고딕"/>
                  </a:rPr>
                  <a:t>MPa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 i="0">
              <a:solidFill>
                <a:srgbClr val="5F6B73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 b="0" i="0">
          <a:solidFill>
            <a:srgbClr val="5F6B73"/>
          </a:solidFill>
          <a:latin typeface="맑은 고딕"/>
          <a:ea typeface="맑은 고딕"/>
          <a:cs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클링커 자유석회(f-CaO)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클링커 자유석회(f-CaO)(일평균)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09/15</c:v>
                </c:pt>
                <c:pt idx="8">
                  <c:v>09/16</c:v>
                </c:pt>
                <c:pt idx="9">
                  <c:v>09/17</c:v>
                </c:pt>
                <c:pt idx="10">
                  <c:v>09/18</c:v>
                </c:pt>
                <c:pt idx="11">
                  <c:v>09/19</c:v>
                </c:pt>
                <c:pt idx="12">
                  <c:v>09/20</c:v>
                </c:pt>
                <c:pt idx="13">
                  <c:v>09/21</c:v>
                </c:pt>
                <c:pt idx="14">
                  <c:v>09/22</c:v>
                </c:pt>
                <c:pt idx="15">
                  <c:v>09/23</c:v>
                </c:pt>
                <c:pt idx="16">
                  <c:v>09/24</c:v>
                </c:pt>
                <c:pt idx="17">
                  <c:v>09/25</c:v>
                </c:pt>
                <c:pt idx="18">
                  <c:v>09/26</c:v>
                </c:pt>
                <c:pt idx="19">
                  <c:v>09/27</c:v>
                </c:pt>
                <c:pt idx="20">
                  <c:v>09/28</c:v>
                </c:pt>
                <c:pt idx="21">
                  <c:v>09/29</c:v>
                </c:pt>
                <c:pt idx="22">
                  <c:v>09/30</c:v>
                </c:pt>
                <c:pt idx="23">
                  <c:v>10/01</c:v>
                </c:pt>
                <c:pt idx="24">
                  <c:v>10/02</c:v>
                </c:pt>
                <c:pt idx="25">
                  <c:v>10/03</c:v>
                </c:pt>
                <c:pt idx="26">
                  <c:v>10/04</c:v>
                </c:pt>
                <c:pt idx="27">
                  <c:v>10/05</c:v>
                </c:pt>
                <c:pt idx="28">
                  <c:v>10/06</c:v>
                </c:pt>
                <c:pt idx="29">
                  <c:v>10/07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1.0973333333333333</c:v>
                </c:pt>
                <c:pt idx="1">
                  <c:v>0.88125</c:v>
                </c:pt>
                <c:pt idx="2">
                  <c:v>0.8671666666666668</c:v>
                </c:pt>
                <c:pt idx="3">
                  <c:v>1.072</c:v>
                </c:pt>
                <c:pt idx="4">
                  <c:v>1.0378333333333334</c:v>
                </c:pt>
                <c:pt idx="5">
                  <c:v>1.0148333333333333</c:v>
                </c:pt>
                <c:pt idx="6">
                  <c:v>1.0420833333333335</c:v>
                </c:pt>
                <c:pt idx="7">
                  <c:v>0.9830833333333334</c:v>
                </c:pt>
                <c:pt idx="8">
                  <c:v>1.11425</c:v>
                </c:pt>
                <c:pt idx="9">
                  <c:v>1.1380833333333333</c:v>
                </c:pt>
                <c:pt idx="10">
                  <c:v>1.1700833333333334</c:v>
                </c:pt>
                <c:pt idx="11">
                  <c:v>1.0296666666666667</c:v>
                </c:pt>
                <c:pt idx="12">
                  <c:v>1.0294999999999999</c:v>
                </c:pt>
                <c:pt idx="13">
                  <c:v>1.1198333333333335</c:v>
                </c:pt>
                <c:pt idx="14">
                  <c:v>0.9073333333333333</c:v>
                </c:pt>
                <c:pt idx="15">
                  <c:v>1.1574166666666665</c:v>
                </c:pt>
                <c:pt idx="16">
                  <c:v>1.1961666666666668</c:v>
                </c:pt>
                <c:pt idx="17">
                  <c:v>1.1513333333333333</c:v>
                </c:pt>
                <c:pt idx="18">
                  <c:v>1.1191666666666666</c:v>
                </c:pt>
                <c:pt idx="19">
                  <c:v>0.7519166666666667</c:v>
                </c:pt>
                <c:pt idx="20">
                  <c:v>1.2983333333333333</c:v>
                </c:pt>
                <c:pt idx="21">
                  <c:v>1.1518333333333333</c:v>
                </c:pt>
                <c:pt idx="22">
                  <c:v>1.039</c:v>
                </c:pt>
                <c:pt idx="23">
                  <c:v>1.0754166666666667</c:v>
                </c:pt>
                <c:pt idx="24">
                  <c:v>1.1964166666666667</c:v>
                </c:pt>
                <c:pt idx="25">
                  <c:v>1.19525</c:v>
                </c:pt>
                <c:pt idx="26">
                  <c:v>1.3056666666666665</c:v>
                </c:pt>
                <c:pt idx="27">
                  <c:v>0.9210833333333334</c:v>
                </c:pt>
                <c:pt idx="28">
                  <c:v>0.9999166666666667</c:v>
                </c:pt>
                <c:pt idx="29">
                  <c:v>1.0791666666666666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사내 상한 1.8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09/15</c:v>
                </c:pt>
                <c:pt idx="8">
                  <c:v>09/16</c:v>
                </c:pt>
                <c:pt idx="9">
                  <c:v>09/17</c:v>
                </c:pt>
                <c:pt idx="10">
                  <c:v>09/18</c:v>
                </c:pt>
                <c:pt idx="11">
                  <c:v>09/19</c:v>
                </c:pt>
                <c:pt idx="12">
                  <c:v>09/20</c:v>
                </c:pt>
                <c:pt idx="13">
                  <c:v>09/21</c:v>
                </c:pt>
                <c:pt idx="14">
                  <c:v>09/22</c:v>
                </c:pt>
                <c:pt idx="15">
                  <c:v>09/23</c:v>
                </c:pt>
                <c:pt idx="16">
                  <c:v>09/24</c:v>
                </c:pt>
                <c:pt idx="17">
                  <c:v>09/25</c:v>
                </c:pt>
                <c:pt idx="18">
                  <c:v>09/26</c:v>
                </c:pt>
                <c:pt idx="19">
                  <c:v>09/27</c:v>
                </c:pt>
                <c:pt idx="20">
                  <c:v>09/28</c:v>
                </c:pt>
                <c:pt idx="21">
                  <c:v>09/29</c:v>
                </c:pt>
                <c:pt idx="22">
                  <c:v>09/30</c:v>
                </c:pt>
                <c:pt idx="23">
                  <c:v>10/01</c:v>
                </c:pt>
                <c:pt idx="24">
                  <c:v>10/02</c:v>
                </c:pt>
                <c:pt idx="25">
                  <c:v>10/03</c:v>
                </c:pt>
                <c:pt idx="26">
                  <c:v>10/04</c:v>
                </c:pt>
                <c:pt idx="27">
                  <c:v>10/05</c:v>
                </c:pt>
                <c:pt idx="28">
                  <c:v>10/06</c:v>
                </c:pt>
                <c:pt idx="29">
                  <c:v>10/07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1.8</c:v>
                </c:pt>
                <c:pt idx="1">
                  <c:v>1.8</c:v>
                </c:pt>
                <c:pt idx="2">
                  <c:v>1.8</c:v>
                </c:pt>
                <c:pt idx="3">
                  <c:v>1.8</c:v>
                </c:pt>
                <c:pt idx="4">
                  <c:v>1.8</c:v>
                </c:pt>
                <c:pt idx="5">
                  <c:v>1.8</c:v>
                </c:pt>
                <c:pt idx="6">
                  <c:v>1.8</c:v>
                </c:pt>
                <c:pt idx="7">
                  <c:v>1.8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1.8</c:v>
                </c:pt>
                <c:pt idx="12">
                  <c:v>1.8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</c:v>
                </c:pt>
                <c:pt idx="17">
                  <c:v>1.8</c:v>
                </c:pt>
                <c:pt idx="18">
                  <c:v>1.8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1.8</c:v>
                </c:pt>
                <c:pt idx="23">
                  <c:v>1.8</c:v>
                </c:pt>
                <c:pt idx="24">
                  <c:v>1.8</c:v>
                </c:pt>
                <c:pt idx="25">
                  <c:v>1.8</c:v>
                </c:pt>
                <c:pt idx="26">
                  <c:v>1.8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사내 하한 0.4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09/15</c:v>
                </c:pt>
                <c:pt idx="8">
                  <c:v>09/16</c:v>
                </c:pt>
                <c:pt idx="9">
                  <c:v>09/17</c:v>
                </c:pt>
                <c:pt idx="10">
                  <c:v>09/18</c:v>
                </c:pt>
                <c:pt idx="11">
                  <c:v>09/19</c:v>
                </c:pt>
                <c:pt idx="12">
                  <c:v>09/20</c:v>
                </c:pt>
                <c:pt idx="13">
                  <c:v>09/21</c:v>
                </c:pt>
                <c:pt idx="14">
                  <c:v>09/22</c:v>
                </c:pt>
                <c:pt idx="15">
                  <c:v>09/23</c:v>
                </c:pt>
                <c:pt idx="16">
                  <c:v>09/24</c:v>
                </c:pt>
                <c:pt idx="17">
                  <c:v>09/25</c:v>
                </c:pt>
                <c:pt idx="18">
                  <c:v>09/26</c:v>
                </c:pt>
                <c:pt idx="19">
                  <c:v>09/27</c:v>
                </c:pt>
                <c:pt idx="20">
                  <c:v>09/28</c:v>
                </c:pt>
                <c:pt idx="21">
                  <c:v>09/29</c:v>
                </c:pt>
                <c:pt idx="22">
                  <c:v>09/30</c:v>
                </c:pt>
                <c:pt idx="23">
                  <c:v>10/01</c:v>
                </c:pt>
                <c:pt idx="24">
                  <c:v>10/02</c:v>
                </c:pt>
                <c:pt idx="25">
                  <c:v>10/03</c:v>
                </c:pt>
                <c:pt idx="26">
                  <c:v>10/04</c:v>
                </c:pt>
                <c:pt idx="27">
                  <c:v>10/05</c:v>
                </c:pt>
                <c:pt idx="28">
                  <c:v>10/06</c:v>
                </c:pt>
                <c:pt idx="29">
                  <c:v>10/07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EC5"/>
            </a:solidFill>
          </a:ln>
        </c:spPr>
        <c:txPr>
          <a:bodyPr/>
          <a:lstStyle/>
          <a:p>
            <a:pPr>
              <a:defRPr sz="9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max val="2.0"/>
          <c:min val="0.0"/>
        </c:scaling>
        <c:delete val="0"/>
        <c:axPos val="l"/>
        <c:majorGridlines>
          <c:spPr>
            <a:ln>
              <a:solidFill>
                <a:srgbClr val="E3E7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 i="0">
              <a:solidFill>
                <a:srgbClr val="5F6B73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 b="0" i="0">
          <a:solidFill>
            <a:srgbClr val="5F6B73"/>
          </a:solidFill>
          <a:latin typeface="맑은 고딕"/>
          <a:ea typeface="맑은 고딕"/>
          <a:cs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시멘트 분말도(Blaine) [1종] (cm²/g)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시멘트 분말도(Blaine)(일평균)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3444.766333333333</c:v>
                </c:pt>
                <c:pt idx="1">
                  <c:v>3443.3345000000004</c:v>
                </c:pt>
                <c:pt idx="2">
                  <c:v>3447.402083333333</c:v>
                </c:pt>
                <c:pt idx="3">
                  <c:v>3422.4990833333336</c:v>
                </c:pt>
                <c:pt idx="4">
                  <c:v>3439.112916666667</c:v>
                </c:pt>
                <c:pt idx="5">
                  <c:v>3448.3292500000002</c:v>
                </c:pt>
                <c:pt idx="6">
                  <c:v>3465.4446666666668</c:v>
                </c:pt>
                <c:pt idx="7">
                  <c:v>3434.8390833333337</c:v>
                </c:pt>
                <c:pt idx="8">
                  <c:v>3205.807666666667</c:v>
                </c:pt>
                <c:pt idx="9">
                  <c:v>3041.686833333333</c:v>
                </c:pt>
                <c:pt idx="10">
                  <c:v>2984.316666666667</c:v>
                </c:pt>
                <c:pt idx="11">
                  <c:v>2978.9366666666665</c:v>
                </c:pt>
                <c:pt idx="12">
                  <c:v>2988.80125</c:v>
                </c:pt>
                <c:pt idx="13">
                  <c:v>3154.778083333333</c:v>
                </c:pt>
                <c:pt idx="14">
                  <c:v>3447.380416666667</c:v>
                </c:pt>
                <c:pt idx="15">
                  <c:v>3431.9731666666667</c:v>
                </c:pt>
                <c:pt idx="16">
                  <c:v>3417.8813333333333</c:v>
                </c:pt>
                <c:pt idx="17">
                  <c:v>3420.5611666666664</c:v>
                </c:pt>
                <c:pt idx="18">
                  <c:v>3457.5830833333334</c:v>
                </c:pt>
                <c:pt idx="19">
                  <c:v>3413.7750833333334</c:v>
                </c:pt>
                <c:pt idx="20">
                  <c:v>3445.352666666666</c:v>
                </c:pt>
                <c:pt idx="21">
                  <c:v>3444.0840000000003</c:v>
                </c:pt>
                <c:pt idx="22">
                  <c:v>3440.909916666667</c:v>
                </c:pt>
                <c:pt idx="23">
                  <c:v>3418.7275833333333</c:v>
                </c:pt>
                <c:pt idx="24">
                  <c:v>3408.3210833333337</c:v>
                </c:pt>
                <c:pt idx="25">
                  <c:v>3436.34525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사내 상한 3700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3700.0</c:v>
                </c:pt>
                <c:pt idx="1">
                  <c:v>3700.0</c:v>
                </c:pt>
                <c:pt idx="2">
                  <c:v>3700.0</c:v>
                </c:pt>
                <c:pt idx="3">
                  <c:v>3700.0</c:v>
                </c:pt>
                <c:pt idx="4">
                  <c:v>3700.0</c:v>
                </c:pt>
                <c:pt idx="5">
                  <c:v>3700.0</c:v>
                </c:pt>
                <c:pt idx="6">
                  <c:v>3700.0</c:v>
                </c:pt>
                <c:pt idx="7">
                  <c:v>3700.0</c:v>
                </c:pt>
                <c:pt idx="8">
                  <c:v>3700.0</c:v>
                </c:pt>
                <c:pt idx="9">
                  <c:v>3700.0</c:v>
                </c:pt>
                <c:pt idx="10">
                  <c:v>3700.0</c:v>
                </c:pt>
                <c:pt idx="11">
                  <c:v>3700.0</c:v>
                </c:pt>
                <c:pt idx="12">
                  <c:v>3700.0</c:v>
                </c:pt>
                <c:pt idx="13">
                  <c:v>3700.0</c:v>
                </c:pt>
                <c:pt idx="14">
                  <c:v>3700.0</c:v>
                </c:pt>
                <c:pt idx="15">
                  <c:v>3700.0</c:v>
                </c:pt>
                <c:pt idx="16">
                  <c:v>3700.0</c:v>
                </c:pt>
                <c:pt idx="17">
                  <c:v>3700.0</c:v>
                </c:pt>
                <c:pt idx="18">
                  <c:v>3700.0</c:v>
                </c:pt>
                <c:pt idx="19">
                  <c:v>3700.0</c:v>
                </c:pt>
                <c:pt idx="20">
                  <c:v>3700.0</c:v>
                </c:pt>
                <c:pt idx="21">
                  <c:v>3700.0</c:v>
                </c:pt>
                <c:pt idx="22">
                  <c:v>3700.0</c:v>
                </c:pt>
                <c:pt idx="23">
                  <c:v>3700.0</c:v>
                </c:pt>
                <c:pt idx="24">
                  <c:v>3700.0</c:v>
                </c:pt>
                <c:pt idx="25">
                  <c:v>3700.0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사내 하한 3250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3250.0</c:v>
                </c:pt>
                <c:pt idx="1">
                  <c:v>3250.0</c:v>
                </c:pt>
                <c:pt idx="2">
                  <c:v>3250.0</c:v>
                </c:pt>
                <c:pt idx="3">
                  <c:v>3250.0</c:v>
                </c:pt>
                <c:pt idx="4">
                  <c:v>3250.0</c:v>
                </c:pt>
                <c:pt idx="5">
                  <c:v>3250.0</c:v>
                </c:pt>
                <c:pt idx="6">
                  <c:v>3250.0</c:v>
                </c:pt>
                <c:pt idx="7">
                  <c:v>3250.0</c:v>
                </c:pt>
                <c:pt idx="8">
                  <c:v>3250.0</c:v>
                </c:pt>
                <c:pt idx="9">
                  <c:v>3250.0</c:v>
                </c:pt>
                <c:pt idx="10">
                  <c:v>3250.0</c:v>
                </c:pt>
                <c:pt idx="11">
                  <c:v>3250.0</c:v>
                </c:pt>
                <c:pt idx="12">
                  <c:v>3250.0</c:v>
                </c:pt>
                <c:pt idx="13">
                  <c:v>3250.0</c:v>
                </c:pt>
                <c:pt idx="14">
                  <c:v>3250.0</c:v>
                </c:pt>
                <c:pt idx="15">
                  <c:v>3250.0</c:v>
                </c:pt>
                <c:pt idx="16">
                  <c:v>3250.0</c:v>
                </c:pt>
                <c:pt idx="17">
                  <c:v>3250.0</c:v>
                </c:pt>
                <c:pt idx="18">
                  <c:v>3250.0</c:v>
                </c:pt>
                <c:pt idx="19">
                  <c:v>3250.0</c:v>
                </c:pt>
                <c:pt idx="20">
                  <c:v>3250.0</c:v>
                </c:pt>
                <c:pt idx="21">
                  <c:v>3250.0</c:v>
                </c:pt>
                <c:pt idx="22">
                  <c:v>3250.0</c:v>
                </c:pt>
                <c:pt idx="23">
                  <c:v>3250.0</c:v>
                </c:pt>
                <c:pt idx="24">
                  <c:v>3250.0</c:v>
                </c:pt>
                <c:pt idx="25">
                  <c:v>3250.0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KS 하한 2800</c:v>
                </c:pt>
              </c:strCache>
            </c:strRef>
          </c:tx>
          <c:spPr>
            <a:ln w="15875">
              <a:solidFill>
                <a:srgbClr val="D03B3B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09/08</c:v>
                </c:pt>
                <c:pt idx="1">
                  <c:v>09/09</c:v>
                </c:pt>
                <c:pt idx="2">
                  <c:v>09/10</c:v>
                </c:pt>
                <c:pt idx="3">
                  <c:v>09/11</c:v>
                </c:pt>
                <c:pt idx="4">
                  <c:v>09/12</c:v>
                </c:pt>
                <c:pt idx="5">
                  <c:v>09/13</c:v>
                </c:pt>
                <c:pt idx="6">
                  <c:v>09/14</c:v>
                </c:pt>
                <c:pt idx="7">
                  <c:v>09/17</c:v>
                </c:pt>
                <c:pt idx="8">
                  <c:v>09/18</c:v>
                </c:pt>
                <c:pt idx="9">
                  <c:v>09/19</c:v>
                </c:pt>
                <c:pt idx="10">
                  <c:v>09/20</c:v>
                </c:pt>
                <c:pt idx="11">
                  <c:v>09/21</c:v>
                </c:pt>
                <c:pt idx="12">
                  <c:v>09/22</c:v>
                </c:pt>
                <c:pt idx="13">
                  <c:v>09/23</c:v>
                </c:pt>
                <c:pt idx="14">
                  <c:v>09/24</c:v>
                </c:pt>
                <c:pt idx="15">
                  <c:v>09/25</c:v>
                </c:pt>
                <c:pt idx="16">
                  <c:v>09/26</c:v>
                </c:pt>
                <c:pt idx="17">
                  <c:v>09/27</c:v>
                </c:pt>
                <c:pt idx="18">
                  <c:v>09/28</c:v>
                </c:pt>
                <c:pt idx="19">
                  <c:v>09/29</c:v>
                </c:pt>
                <c:pt idx="20">
                  <c:v>10/02</c:v>
                </c:pt>
                <c:pt idx="21">
                  <c:v>10/03</c:v>
                </c:pt>
                <c:pt idx="22">
                  <c:v>10/04</c:v>
                </c:pt>
                <c:pt idx="23">
                  <c:v>10/05</c:v>
                </c:pt>
                <c:pt idx="24">
                  <c:v>10/06</c:v>
                </c:pt>
                <c:pt idx="25">
                  <c:v>10/07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2800.0</c:v>
                </c:pt>
                <c:pt idx="1">
                  <c:v>2800.0</c:v>
                </c:pt>
                <c:pt idx="2">
                  <c:v>2800.0</c:v>
                </c:pt>
                <c:pt idx="3">
                  <c:v>2800.0</c:v>
                </c:pt>
                <c:pt idx="4">
                  <c:v>2800.0</c:v>
                </c:pt>
                <c:pt idx="5">
                  <c:v>2800.0</c:v>
                </c:pt>
                <c:pt idx="6">
                  <c:v>2800.0</c:v>
                </c:pt>
                <c:pt idx="7">
                  <c:v>2800.0</c:v>
                </c:pt>
                <c:pt idx="8">
                  <c:v>2800.0</c:v>
                </c:pt>
                <c:pt idx="9">
                  <c:v>2800.0</c:v>
                </c:pt>
                <c:pt idx="10">
                  <c:v>2800.0</c:v>
                </c:pt>
                <c:pt idx="11">
                  <c:v>2800.0</c:v>
                </c:pt>
                <c:pt idx="12">
                  <c:v>2800.0</c:v>
                </c:pt>
                <c:pt idx="13">
                  <c:v>2800.0</c:v>
                </c:pt>
                <c:pt idx="14">
                  <c:v>2800.0</c:v>
                </c:pt>
                <c:pt idx="15">
                  <c:v>2800.0</c:v>
                </c:pt>
                <c:pt idx="16">
                  <c:v>2800.0</c:v>
                </c:pt>
                <c:pt idx="17">
                  <c:v>2800.0</c:v>
                </c:pt>
                <c:pt idx="18">
                  <c:v>2800.0</c:v>
                </c:pt>
                <c:pt idx="19">
                  <c:v>2800.0</c:v>
                </c:pt>
                <c:pt idx="20">
                  <c:v>2800.0</c:v>
                </c:pt>
                <c:pt idx="21">
                  <c:v>2800.0</c:v>
                </c:pt>
                <c:pt idx="22">
                  <c:v>2800.0</c:v>
                </c:pt>
                <c:pt idx="23">
                  <c:v>2800.0</c:v>
                </c:pt>
                <c:pt idx="24">
                  <c:v>2800.0</c:v>
                </c:pt>
                <c:pt idx="25">
                  <c:v>2800.0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EC5"/>
            </a:solidFill>
          </a:ln>
        </c:spPr>
        <c:txPr>
          <a:bodyPr/>
          <a:lstStyle/>
          <a:p>
            <a:pPr>
              <a:defRPr sz="9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2140495176"/>
        <c:scaling>
          <c:max val="4000.0"/>
          <c:min val="2600.0"/>
        </c:scaling>
        <c:delete val="0"/>
        <c:axPos val="l"/>
        <c:majorGridlines>
          <c:spPr>
            <a:ln>
              <a:solidFill>
                <a:srgbClr val="E3E7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 i="0">
              <a:solidFill>
                <a:srgbClr val="5F6B73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 b="0" i="0">
          <a:solidFill>
            <a:srgbClr val="5F6B73"/>
          </a:solidFill>
          <a:latin typeface="맑은 고딕"/>
          <a:ea typeface="맑은 고딕"/>
          <a:cs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품질관리 현황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FD8DC"/>
                </a:solidFill>
                <a:latin typeface="맑은 고딕"/>
                <a:ea typeface="맑은 고딕"/>
                <a:cs typeface="맑은 고딕"/>
              </a:rPr>
              <a:t>대상 기간 2026.09.08 ~ 2026.10.07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0BEC5"/>
                </a:solidFill>
                <a:latin typeface="맑은 고딕"/>
                <a:ea typeface="맑은 고딕"/>
                <a:cs typeface="맑은 고딕"/>
              </a:rPr>
              <a:t>품질관리팀 · Blue365 통합 품질관리 시스템 자동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핵심 요약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KS 규격 이탈이 발생해 출하 판정이 필요합니다</a:t>
            </a:r>
          </a:p>
        </p:txBody>
      </p:sp>
      <p:sp>
        <p:nvSpPr>
          <p:cNvPr id="4" name="KPI KS 규격 이탈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325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KS 규격 이탈</a:t>
            </a:r>
          </a:p>
        </p:txBody>
      </p:sp>
      <p:sp>
        <p:nvSpPr>
          <p:cNvPr id="6" name="Status 위험"/>
          <p:cNvSpPr/>
          <p:nvPr/>
        </p:nvSpPr>
        <p:spPr>
          <a:xfrm>
            <a:off x="2011680" y="175564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75564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03B3B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40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1건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출하 판정·고객 영향 검토 대상</a:t>
            </a:r>
          </a:p>
        </p:txBody>
      </p:sp>
      <p:sp>
        <p:nvSpPr>
          <p:cNvPr id="10" name="KPI 사내기준 이탈"/>
          <p:cNvSpPr/>
          <p:nvPr/>
        </p:nvSpPr>
        <p:spPr>
          <a:xfrm>
            <a:off x="3401568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37360"/>
            <a:ext cx="1325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사내기준 이탈</a:t>
            </a:r>
          </a:p>
        </p:txBody>
      </p:sp>
      <p:sp>
        <p:nvSpPr>
          <p:cNvPr id="12" name="Status 경고"/>
          <p:cNvSpPr/>
          <p:nvPr/>
        </p:nvSpPr>
        <p:spPr>
          <a:xfrm>
            <a:off x="4864608" y="175564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75564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C835A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03120"/>
            <a:ext cx="2240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7건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88036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원인 조사·조치 대상</a:t>
            </a:r>
          </a:p>
        </p:txBody>
      </p:sp>
      <p:sp>
        <p:nvSpPr>
          <p:cNvPr id="16" name="KPI 28일 강도"/>
          <p:cNvSpPr/>
          <p:nvPr/>
        </p:nvSpPr>
        <p:spPr>
          <a:xfrm>
            <a:off x="6254496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737360"/>
            <a:ext cx="1325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28일 강도</a:t>
            </a:r>
          </a:p>
        </p:txBody>
      </p:sp>
      <p:sp>
        <p:nvSpPr>
          <p:cNvPr id="18" name="Status 양호"/>
          <p:cNvSpPr/>
          <p:nvPr/>
        </p:nvSpPr>
        <p:spPr>
          <a:xfrm>
            <a:off x="7717536" y="175564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175564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A30C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양호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103120"/>
            <a:ext cx="2240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51.4 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88036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1종 · 최소 51.2 · KS 42.5 대비 +8.7</a:t>
            </a:r>
          </a:p>
        </p:txBody>
      </p:sp>
      <p:sp>
        <p:nvSpPr>
          <p:cNvPr id="22" name="KPI Cpk 1.0 미만"/>
          <p:cNvSpPr/>
          <p:nvPr/>
        </p:nvSpPr>
        <p:spPr>
          <a:xfrm>
            <a:off x="9107424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3" y="1737360"/>
            <a:ext cx="1325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Cpk 1.0 미만</a:t>
            </a:r>
          </a:p>
        </p:txBody>
      </p:sp>
      <p:sp>
        <p:nvSpPr>
          <p:cNvPr id="24" name="Status 주의"/>
          <p:cNvSpPr/>
          <p:nvPr/>
        </p:nvSpPr>
        <p:spPr>
          <a:xfrm>
            <a:off x="10570463" y="175564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70463" y="175564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AB219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2103120"/>
            <a:ext cx="2240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3" y="288036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7일 압축강도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주요 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[위험] [1종] 시멘트 SO₃ KS 규격 상한 초과 (09/06~09/08) → 석고 정량공급기 이상(막힘·교정 불량)(데이터 없음(추정))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[경고] 클링커 자유석회(f-CaO) 사내 관리기준 하한 미달 (09/27) → f-CaO 분석·시료 채취 오차(데이터 지지)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[경고] [1종] 시멘트 분말도(Blaine) 사내 관리기준 하한 미달 (09/18~09/23) → 세퍼레이터 분급 성능 저하(데이터 지지)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SPC 이상 패턴(주의) 20건 — 규격 이내이나 추세·평균 이동 징후, 공정별 점검 진행</a:t>
            </a:r>
          </a:p>
        </p:txBody>
      </p:sp>
      <p:sp>
        <p:nvSpPr>
          <p:cNvPr id="30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집계(2026-10-07 05:55) · KS L 5201 포틀랜드 시멘트 · 사내 관리기준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28일 압축강도 추이 (1종)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미도래 로트 중 4로트가 사내기준(48 MPa) 미달로 예측됩니다</a:t>
            </a:r>
          </a:p>
        </p:txBody>
      </p:sp>
      <p:graphicFrame>
        <p:nvGraphicFramePr>
          <p:cNvPr id="4" name="Strength chart"/>
          <p:cNvGraphicFramePr>
            <a:graphicFrameLocks noGrp="1"/>
          </p:cNvGraphicFramePr>
          <p:nvPr/>
        </p:nvGraphicFramePr>
        <p:xfrm>
          <a:off x="548640" y="1554480"/>
          <a:ext cx="78638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trength notes"/>
          <p:cNvSpPr/>
          <p:nvPr/>
        </p:nvSpPr>
        <p:spPr>
          <a:xfrm>
            <a:off x="8686800" y="1600200"/>
            <a:ext cx="2971800" cy="4572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783080"/>
            <a:ext cx="265176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판독 포인트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실측 평균 51.4 / 최소 51.2 MPa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사내 하한 미달 0로트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예측 대상 24로트, 미달 예측 4로트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예측은 조기강도·분말도·C₃S 회귀식(추정치)이며 실측으로 확정</a:t>
            </a:r>
          </a:p>
        </p:txBody>
      </p:sp>
      <p:sp>
        <p:nvSpPr>
          <p:cNvPr id="7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집계(2026-10-07 05:55) · KS L 5201 포틀랜드 시멘트 · 사내 관리기준 · 예측값: 다중회귀(LOO RMSE 기반 ±1.96σ)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공정 핵심 지표 추이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소성(f-CaO)과 분쇄(분말도)가 제품 강도의 선행 지표입니다</a:t>
            </a:r>
          </a:p>
        </p:txBody>
      </p:sp>
      <p:graphicFrame>
        <p:nvGraphicFramePr>
          <p:cNvPr id="4" name="Chart clk_fcao"/>
          <p:cNvGraphicFramePr>
            <a:graphicFrameLocks noGrp="1"/>
          </p:cNvGraphicFramePr>
          <p:nvPr/>
        </p:nvGraphicFramePr>
        <p:xfrm>
          <a:off x="548640" y="1600200"/>
          <a:ext cx="5394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15000"/>
            <a:ext cx="5394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평균 1.07 % · 집계값 기준 사내기준 이탈 0회</a:t>
            </a:r>
          </a:p>
        </p:txBody>
      </p:sp>
      <p:graphicFrame>
        <p:nvGraphicFramePr>
          <p:cNvPr id="6" name="Chart cem_blaine"/>
          <p:cNvGraphicFramePr>
            <a:graphicFrameLocks noGrp="1"/>
          </p:cNvGraphicFramePr>
          <p:nvPr/>
        </p:nvGraphicFramePr>
        <p:xfrm>
          <a:off x="6217920" y="1600200"/>
          <a:ext cx="5394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5715000"/>
            <a:ext cx="5394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평균 3,349 cm²/g · 집계값 기준 사내기준 이탈 6회</a:t>
            </a:r>
          </a:p>
        </p:txBody>
      </p:sp>
      <p:sp>
        <p:nvSpPr>
          <p:cNvPr id="8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집계(2026-10-07 05:55) · KS L 5201 포틀랜드 시멘트 · 사내 관리기준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주요 이상 발생 및 조치 현황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위험 1건 · 경고 7건 · 주의 20건 (기간 내)</a:t>
            </a:r>
          </a:p>
        </p:txBody>
      </p:sp>
      <p:graphicFrame>
        <p:nvGraphicFramePr>
          <p:cNvPr id="4" name="Event table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234440"/>
                <a:gridCol w="2377440"/>
                <a:gridCol w="2103120"/>
                <a:gridCol w="777240"/>
                <a:gridCol w="2697480"/>
                <a:gridCol w="7315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심각도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1순위 원인(자동 진단)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09/06~09/08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시멘트 SO₃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 규격 상한 초과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54864" marR="54864" marT="18288" marB="18288" anchor="ctr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석고 정량공급기 이상(막힘·교정 불량)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09/27~09/27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자유석회(f-CaO)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[시험오차] f-CaO 분석·시료 채취 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09/18~09/23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시멘트 분말도(Blaine)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세퍼레이터 분급 성능 저하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09/18~09/23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시멘트 45μm 잔사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상한 초과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세퍼레이터 분급 성능 저하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09/19~09/23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물성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7일 압축강도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09/19~09/22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물성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3일 압축강도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09/19~09/22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물성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28일 강도(예측)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미달(예측)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09/09~09/09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자유석회(f-CaO)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관리기준 하한 미달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54864" marR="54864" marT="18288" marB="18288" anchor="ctr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[시험오차] f-CaO 분석·시료 채취 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10/04~10/07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[1종] 시멘트 분말도(Blaine)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중심선 한쪽 연속 9점(평균 이동)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54864" marR="54864" marT="18288" marB="18288" anchor="ctr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집계(2026-10-07 05:55) · KS L 5201 포틀랜드 시멘트 · 사내 관리기준 · 원인은 데이터 기반 자동 진단(1차 판단)이며 현장 확인으로 확정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이상 분석: [1종] 시멘트 SO₃ 과다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데이터로 지지되는 원인 없음 — 우선 확인: [설비] 석고 정량공급기 이상(막힘·교정 불량) (추정)</a:t>
            </a:r>
          </a:p>
        </p:txBody>
      </p:sp>
      <p:sp>
        <p:nvSpPr>
          <p:cNvPr id="4" name="Phenomenon card"/>
          <p:cNvSpPr/>
          <p:nvPr/>
        </p:nvSpPr>
        <p:spPr>
          <a:xfrm>
            <a:off x="548640" y="160020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① 현상 정량화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09/06 06:00 ~ 09/08 16:00 · 위험 · KS 규격 상한 초과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구간 평균 3.37 % (기준기간 2.62, Δ +0.75)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최대 3.53 % · KS 기준 3.50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종합 판단: 데이터로 뒷받침되는 원인이 없습니다. 경험상 빈도가 높은 [설비] 석고 정량공급기 이상(막힘·교정 불량), [원료] 석고 품위(순도) 변동, [화학] 클링커 SO₃ 증가(연료 황분·휘발) 순으로 현장 확인이 필요합니다(추정 — 측정 데이터가 없는 설비·원료 요인일 가능성).</a:t>
            </a:r>
          </a:p>
        </p:txBody>
      </p:sp>
      <p:sp>
        <p:nvSpPr>
          <p:cNvPr id="7" name="KS card"/>
          <p:cNvSpPr/>
          <p:nvPr/>
        </p:nvSpPr>
        <p:spPr>
          <a:xfrm>
            <a:off x="548640" y="45262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36008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⑤ KS·사내기준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01768"/>
            <a:ext cx="47548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시멘트 SO₃(1종): 부적합 2건 — 출하 판정·고객 영향 검토 필요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초결 시간(1종): 적합 (하한 여유 +195 분)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28일 압축강도(1종): 적합 (하한 여유 +8.7 MPa)</a:t>
            </a:r>
          </a:p>
        </p:txBody>
      </p:sp>
      <p:graphicFrame>
        <p:nvGraphicFramePr>
          <p:cNvPr id="10" name="Hypothesis table"/>
          <p:cNvGraphicFramePr>
            <a:graphicFrameLocks noGrp="1"/>
          </p:cNvGraphicFramePr>
          <p:nvPr/>
        </p:nvGraphicFramePr>
        <p:xfrm>
          <a:off x="5943600" y="160020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31520"/>
                <a:gridCol w="2468880"/>
                <a:gridCol w="1463040"/>
                <a:gridCol w="548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가설(②)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 정량공급기 이상(막힘·교정 불량)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없음(추정)</a:t>
                      </a:r>
                    </a:p>
                  </a:txBody>
                  <a:tcPr marL="54864" marR="54864" marT="18288" marB="18288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 품위(순도) 변동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없음(추정)</a:t>
                      </a:r>
                    </a:p>
                  </a:txBody>
                  <a:tcPr marL="54864" marR="54864" marT="18288" marB="18288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SO₃ 증가(연료 황분·휘발)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반증(가능성 낮음)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SO₃ 분석·시료 채취 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반증(가능성 낮음)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4069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④ 단기 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434840"/>
            <a:ext cx="27432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공급기 점검·설정 복귀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SO₃ 분석 주기 단축(1시간)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석고 투입량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069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④ 근본 대책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34840"/>
            <a:ext cx="27432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공급기 편차 알람·정기 교정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SO₃ 온라인 제어 루프 구축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석고 입고 검사 기준·혼용 비율 관리</a:t>
            </a:r>
          </a:p>
        </p:txBody>
      </p:sp>
      <p:sp>
        <p:nvSpPr>
          <p:cNvPr id="1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판정: 데이터 지지 = 예상 변화가 측정 데이터로 확인됨(사실, 인과는 현장 확인으로 확정) · 데이터 없음 = 경험칙 추정 · 반증 = 데이터에 예상 변화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이상 분석: [1종] 시멘트 분말도(Blaine) 저하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1순위 원인: [설비] 세퍼레이터 분급 성능 저하 (데이터 지지, 근거 점수 100)</a:t>
            </a:r>
          </a:p>
        </p:txBody>
      </p:sp>
      <p:sp>
        <p:nvSpPr>
          <p:cNvPr id="4" name="Phenomenon card"/>
          <p:cNvSpPr/>
          <p:nvPr/>
        </p:nvSpPr>
        <p:spPr>
          <a:xfrm>
            <a:off x="548640" y="160020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① 현상 정량화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09/18 08:00 ~ 09/23 14:00 · 경고 · 사내 관리기준 하한 미달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구간 평균 3,022 cm²/g (기준기간 3,442, Δ -420)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최소 2,938 cm²/g · 사내 관리기준 3,250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종합 판단: 가장 유력한 원인은 [설비] 세퍼레이터 분급 성능 저하입니다(근거 점수 100, 데이터 지지). 근거: 시멘트 45μm 잔사: 기준 9.6 → 구간 14.4 % (Δ +4.7, +8.0σ).</a:t>
            </a:r>
          </a:p>
        </p:txBody>
      </p:sp>
      <p:sp>
        <p:nvSpPr>
          <p:cNvPr id="7" name="KS card"/>
          <p:cNvSpPr/>
          <p:nvPr/>
        </p:nvSpPr>
        <p:spPr>
          <a:xfrm>
            <a:off x="548640" y="45262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36008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⑤ KS·사내기준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01768"/>
            <a:ext cx="47548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시멘트 분말도(Blaine)(1종): 적합 (하한 여유 +138 cm²/g)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3일 압축강도(1종): 적합 (하한 여유 +10.6 MPa)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7일 압축강도(1종): 적합 (하한 여유 +11.5 MPa)</a:t>
            </a:r>
          </a:p>
        </p:txBody>
      </p:sp>
      <p:graphicFrame>
        <p:nvGraphicFramePr>
          <p:cNvPr id="10" name="Hypothesis table"/>
          <p:cNvGraphicFramePr>
            <a:graphicFrameLocks noGrp="1"/>
          </p:cNvGraphicFramePr>
          <p:nvPr/>
        </p:nvGraphicFramePr>
        <p:xfrm>
          <a:off x="5943600" y="1600200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31520"/>
                <a:gridCol w="2468880"/>
                <a:gridCol w="1463040"/>
                <a:gridCol w="548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가설(②)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세퍼레이터 분급 성능 저하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지지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분쇄 매체(볼) 마모·충진율 저하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없음(추정)</a:t>
                      </a:r>
                    </a:p>
                  </a:txBody>
                  <a:tcPr marL="54864" marR="54864" marT="18288" marB="18288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밀 투입량 과다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약함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분쇄성 저하(과소성·벨라이트↑)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반증(가능성 낮음)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시험오차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분말도 분석·시료 채취 오차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반증(가능성 낮음)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4069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④ 단기 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434840"/>
            <a:ext cx="27432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세퍼레이터 속도 상향·풍량 조정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분말도 회복까지 출하 품질 확인 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069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④ 근본 대책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34840"/>
            <a:ext cx="27432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세퍼레이터 예방정비 주기 수립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분급 효율 정기 평가(Tromp 곡선)</a:t>
            </a:r>
          </a:p>
        </p:txBody>
      </p:sp>
      <p:sp>
        <p:nvSpPr>
          <p:cNvPr id="1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판정: 데이터 지지 = 예상 변화가 측정 데이터로 확인됨(사실, 인과는 현장 확인으로 확정) · 데이터 없음 = 경험칙 추정 · 반증 = 데이터에 예상 변화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핵심 항목 공정능력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Cpk 1.33 이상 충분 · 1.0 미만은 개선 대상 (관용 기준)</a:t>
            </a:r>
          </a:p>
        </p:txBody>
      </p:sp>
      <p:graphicFrame>
        <p:nvGraphicFramePr>
          <p:cNvPr id="4" name="Capability table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31520"/>
                <a:gridCol w="1463040"/>
                <a:gridCol w="1554480"/>
                <a:gridCol w="1005840"/>
                <a:gridCol w="82296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품종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기준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Cpk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물성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7일 압축강도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38.36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22.5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부족(즉시 개선)</a:t>
                      </a:r>
                    </a:p>
                  </a:txBody>
                  <a:tcPr marL="54864" marR="54864" marT="18288" marB="18288" anchor="ctr"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물성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압축강도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27.94 MPa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25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12.5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1.05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보통(개선 권장)</a:t>
                      </a:r>
                    </a:p>
                  </a:txBody>
                  <a:tcPr marL="54864" marR="54864" marT="18288" marB="18288" anchor="ctr">
                    <a:solidFill>
                      <a:srgbClr val="FFF9C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자유석회(f-CaO)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1.071 %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 ~ 1.8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보통(개선 권장)</a:t>
                      </a:r>
                    </a:p>
                  </a:txBody>
                  <a:tcPr marL="54864" marR="54864" marT="18288" marB="18288" anchor="ctr">
                    <a:solidFill>
                      <a:srgbClr val="FFF9C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 분말도(Blaine)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3349.3 cm²/g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3250 ~ 3700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2800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충분</a:t>
                      </a:r>
                    </a:p>
                  </a:txBody>
                  <a:tcPr marL="54864" marR="54864" marT="18288" marB="18288" anchor="ctr">
                    <a:solidFill>
                      <a:srgbClr val="DCEDC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LSF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95.29 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 ~ 97.5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원료(생료)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생료 LSF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99.14 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 ~ 101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1.93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원료(생료)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생료 90μm 잔사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13.12 %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 SO₃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2.62 %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 ~ 3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3.5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1.96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 SO₃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3.21 %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2.9 ~ 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C₃S(Bogue)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57.34 %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 ~ 63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2.10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시멘트 분말도(Blaine)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4606.8 cm²/g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4350 ~ 4850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3300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원료(생료)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생료 SM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2.536 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2.35 ~ 2.75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3.80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우수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집계(2026-10-07 05:55) · KS L 5201 포틀랜드 시멘트 · 사내 관리기준 · Cpk: 군내변동(MR/1.128) 기준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후속 조치 계획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자동 진단에서 도출된 근본 대책을 담당 부서별로 확정해 주십시오</a:t>
            </a:r>
          </a:p>
        </p:txBody>
      </p:sp>
      <p:graphicFrame>
        <p:nvGraphicFramePr>
          <p:cNvPr id="4" name="Action table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840480"/>
                <a:gridCol w="1463040"/>
                <a:gridCol w="11887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근본 대책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원인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담당(제안)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기한(제안)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 편차 알람·정기 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석고 정량공급기 이상(막힘·교정 불량)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SO₃ 온라인 제어 루프 구축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석고 정량공급기 이상(막힘·교정 불량)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 입고 검사 기준·혼용 비율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[원료] 석고 품위(순도) 변동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세퍼레이터 예방정비 주기 수립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세퍼레이터 분급 성능 저하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분급 효율 정기 평가(Tromp 곡선)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세퍼레이터 분급 성능 저하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 충진·분급 관리 기준 수립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[설비] 분쇄 매체(볼) 마모·충진율 저하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분쇄 매체 충진율·마모 정기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세퍼레이터 정비 주기 수립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생산(분쇄)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분말도 자동제어(온라인 PSD 분석기) 도입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[공정] 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생산(분쇄)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담당·기한은 시스템 제안값 — 회의에서 확정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품질관리 현황 보고</dc:title>
  <dc:subject/>
  <dc:creator>Blue365 QMS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