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10277d9-bae7-d8ea-063e-4461fd15b8b2}">
          <p14:sldIdLst>
            <p14:sldId id="256"/>
            <p14:sldId id="257"/>
          </p14:sldIdLst>
        </p14:section>
        <p14:section name="기능" id="{6264079c-b3b3-8243-8982-13021ad12b82}">
          <p14:sldIdLst>
            <p14:sldId id="258"/>
            <p14:sldId id="259"/>
            <p14:sldId id="260"/>
            <p14:sldId id="261"/>
            <p14:sldId id="262"/>
          </p14:sldIdLst>
        </p14:section>
        <p14:section name="6가크롬" id="{ac87399b-735f-c1db-4a15-951c52bc7064}">
          <p14:sldIdLst>
            <p14:sldId id="263"/>
            <p14:sldId id="264"/>
          </p14:sldIdLst>
        </p14:section>
        <p14:section name="연계·AI" id="{c271375a-c0eb-38ee-0942-33103e568a3c}">
          <p14:sldIdLst>
            <p14:sldId id="265"/>
            <p14:sldId id="266"/>
          </p14:sldIdLst>
        </p14:section>
        <p14:section name="결론" id="{515ec2ad-7477-db76-8c18-6b8c9f3b29cb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0"/>
                </a:solidFill>
                <a:latin typeface="+mn-lt"/>
              </a:rPr>
              <a:t>클링커 LSF — 최근 7일 8시간 평균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클링커 LSF 실측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 </c:v>
                  </c:pt>
                  <c:pt idx="1">
                    <c:v>10/01</c:v>
                  </c:pt>
                  <c:pt idx="2">
                    <c:v> </c:v>
                  </c:pt>
                  <c:pt idx="3">
                    <c:v> </c:v>
                  </c:pt>
                  <c:pt idx="4">
                    <c:v>10/02</c:v>
                  </c:pt>
                  <c:pt idx="5">
                    <c:v> </c:v>
                  </c:pt>
                  <c:pt idx="6">
                    <c:v> </c:v>
                  </c:pt>
                  <c:pt idx="7">
                    <c:v>10/03</c:v>
                  </c:pt>
                  <c:pt idx="8">
                    <c:v> </c:v>
                  </c:pt>
                  <c:pt idx="9">
                    <c:v> </c:v>
                  </c:pt>
                  <c:pt idx="10">
                    <c:v>10/04</c:v>
                  </c:pt>
                  <c:pt idx="11">
                    <c:v> </c:v>
                  </c:pt>
                  <c:pt idx="12">
                    <c:v> </c:v>
                  </c:pt>
                  <c:pt idx="13">
                    <c:v>10/05</c:v>
                  </c:pt>
                  <c:pt idx="14">
                    <c:v> </c:v>
                  </c:pt>
                  <c:pt idx="15">
                    <c:v> </c:v>
                  </c:pt>
                  <c:pt idx="16">
                    <c:v>10/06</c:v>
                  </c:pt>
                  <c:pt idx="17">
                    <c:v> </c:v>
                  </c:pt>
                  <c:pt idx="18">
                    <c:v> </c:v>
                  </c:pt>
                  <c:pt idx="19">
                    <c:v>10/07</c:v>
                  </c:pt>
                  <c:pt idx="20">
                    <c:v> </c:v>
                  </c:pt>
                  <c:pt idx="21">
                    <c:v> 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95.07</c:v>
                </c:pt>
                <c:pt idx="1">
                  <c:v>95.42</c:v>
                </c:pt>
                <c:pt idx="2">
                  <c:v>94.84</c:v>
                </c:pt>
                <c:pt idx="3">
                  <c:v>95.87</c:v>
                </c:pt>
                <c:pt idx="4">
                  <c:v>95.75</c:v>
                </c:pt>
                <c:pt idx="5">
                  <c:v>95.48</c:v>
                </c:pt>
                <c:pt idx="6">
                  <c:v>95.1</c:v>
                </c:pt>
                <c:pt idx="7">
                  <c:v>95.5</c:v>
                </c:pt>
                <c:pt idx="8">
                  <c:v>94.58</c:v>
                </c:pt>
                <c:pt idx="9">
                  <c:v>95.24</c:v>
                </c:pt>
                <c:pt idx="10">
                  <c:v>95.71</c:v>
                </c:pt>
                <c:pt idx="11">
                  <c:v>95.56</c:v>
                </c:pt>
                <c:pt idx="12">
                  <c:v>95.58</c:v>
                </c:pt>
                <c:pt idx="13">
                  <c:v>95.53</c:v>
                </c:pt>
                <c:pt idx="14">
                  <c:v>94.9</c:v>
                </c:pt>
                <c:pt idx="15">
                  <c:v>95.1</c:v>
                </c:pt>
                <c:pt idx="16">
                  <c:v>94.76</c:v>
                </c:pt>
                <c:pt idx="17">
                  <c:v>95.08</c:v>
                </c:pt>
                <c:pt idx="18">
                  <c:v>95.18</c:v>
                </c:pt>
                <c:pt idx="19">
                  <c:v>95.5</c:v>
                </c:pt>
                <c:pt idx="20">
                  <c:v>95.24</c:v>
                </c:pt>
                <c:pt idx="21">
                  <c:v>95.42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생료 기반 예측(흡수율 보정 후)</c:v>
                </c:pt>
              </c:strCache>
            </c:strRef>
          </c:tx>
          <c:spPr>
            <a:solidFill>
              <a:srgbClr val="6DA7EC"/>
            </a:solidFill>
            <a:ln w="25400" cap="flat">
              <a:solidFill>
                <a:srgbClr val="6DA7EC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DA7EC"/>
              </a:solidFill>
              <a:ln w="9525" cap="flat">
                <a:solidFill>
                  <a:srgbClr val="6DA7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 </c:v>
                  </c:pt>
                  <c:pt idx="1">
                    <c:v>10/01</c:v>
                  </c:pt>
                  <c:pt idx="2">
                    <c:v> </c:v>
                  </c:pt>
                  <c:pt idx="3">
                    <c:v> </c:v>
                  </c:pt>
                  <c:pt idx="4">
                    <c:v>10/02</c:v>
                  </c:pt>
                  <c:pt idx="5">
                    <c:v> </c:v>
                  </c:pt>
                  <c:pt idx="6">
                    <c:v> </c:v>
                  </c:pt>
                  <c:pt idx="7">
                    <c:v>10/03</c:v>
                  </c:pt>
                  <c:pt idx="8">
                    <c:v> </c:v>
                  </c:pt>
                  <c:pt idx="9">
                    <c:v> </c:v>
                  </c:pt>
                  <c:pt idx="10">
                    <c:v>10/04</c:v>
                  </c:pt>
                  <c:pt idx="11">
                    <c:v> </c:v>
                  </c:pt>
                  <c:pt idx="12">
                    <c:v> </c:v>
                  </c:pt>
                  <c:pt idx="13">
                    <c:v>10/05</c:v>
                  </c:pt>
                  <c:pt idx="14">
                    <c:v> </c:v>
                  </c:pt>
                  <c:pt idx="15">
                    <c:v> </c:v>
                  </c:pt>
                  <c:pt idx="16">
                    <c:v>10/06</c:v>
                  </c:pt>
                  <c:pt idx="17">
                    <c:v> </c:v>
                  </c:pt>
                  <c:pt idx="18">
                    <c:v> </c:v>
                  </c:pt>
                  <c:pt idx="19">
                    <c:v>10/07</c:v>
                  </c:pt>
                  <c:pt idx="20">
                    <c:v> </c:v>
                  </c:pt>
                  <c:pt idx="21">
                    <c:v> </c:v>
                  </c:pt>
                </c:lvl>
              </c:multiLvlStrCache>
            </c:multiLvl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95.25</c:v>
                </c:pt>
                <c:pt idx="1">
                  <c:v>95.36</c:v>
                </c:pt>
                <c:pt idx="2">
                  <c:v>94.84</c:v>
                </c:pt>
                <c:pt idx="3">
                  <c:v>95.69</c:v>
                </c:pt>
                <c:pt idx="4">
                  <c:v>95.67</c:v>
                </c:pt>
                <c:pt idx="5">
                  <c:v>95.46</c:v>
                </c:pt>
                <c:pt idx="6">
                  <c:v>95.15</c:v>
                </c:pt>
                <c:pt idx="7">
                  <c:v>95.41</c:v>
                </c:pt>
                <c:pt idx="8">
                  <c:v>94.66</c:v>
                </c:pt>
                <c:pt idx="9">
                  <c:v>95.33</c:v>
                </c:pt>
                <c:pt idx="10">
                  <c:v>95.61</c:v>
                </c:pt>
                <c:pt idx="11">
                  <c:v>95.57</c:v>
                </c:pt>
                <c:pt idx="12">
                  <c:v>95.57</c:v>
                </c:pt>
                <c:pt idx="13">
                  <c:v>95.36</c:v>
                </c:pt>
                <c:pt idx="14">
                  <c:v>94.81</c:v>
                </c:pt>
                <c:pt idx="15">
                  <c:v>95.13</c:v>
                </c:pt>
                <c:pt idx="16">
                  <c:v>94.97</c:v>
                </c:pt>
                <c:pt idx="17">
                  <c:v>94.93</c:v>
                </c:pt>
                <c:pt idx="18">
                  <c:v>95.37</c:v>
                </c:pt>
                <c:pt idx="19">
                  <c:v>95.39</c:v>
                </c:pt>
                <c:pt idx="20">
                  <c:v>95.37</c:v>
                </c:pt>
                <c:pt idx="21">
                  <c:v>95.6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100" b="0" i="0" u="none" strike="noStrike">
                <a:solidFill>
                  <a:srgbClr val="5F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6.5"/>
          <c:min val="93.5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F6B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0"/>
                </a:solidFill>
                <a:latin typeface="+mn-lt"/>
              </a:rPr>
              <a:t>시멘트 Cr⁶⁺(환원 전) 기여 상위 6 — mg/kg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기여(mg/kg)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유연탄</c:v>
                  </c:pt>
                  <c:pt idx="1">
                    <c:v>철광석</c:v>
                  </c:pt>
                  <c:pt idx="2">
                    <c:v>석탄재(플라이애시)</c:v>
                  </c:pt>
                  <c:pt idx="3">
                    <c:v>점토(셰일)</c:v>
                  </c:pt>
                  <c:pt idx="4">
                    <c:v>내화물 마모(크롬계 벽돌)</c:v>
                  </c:pt>
                  <c:pt idx="5">
                    <c:v>석회석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0.25</c:v>
                </c:pt>
                <c:pt idx="1">
                  <c:v>0.66</c:v>
                </c:pt>
                <c:pt idx="2">
                  <c:v>1.2</c:v>
                </c:pt>
                <c:pt idx="3">
                  <c:v>1.22</c:v>
                </c:pt>
                <c:pt idx="4">
                  <c:v>1.51</c:v>
                </c:pt>
                <c:pt idx="5">
                  <c:v>1.94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0"/>
                </a:solidFill>
                <a:latin typeface="+mn-lt"/>
              </a:rPr>
              <a:t>시멘트 수용성 Cr⁶⁺ — 최근 45일 전 품종 로트(mg/kg)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시멘트 수용성 Cr⁶⁺(로트)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08/22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08/29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 </c:v>
                  </c:pt>
                  <c:pt idx="13">
                    <c:v> </c:v>
                  </c:pt>
                  <c:pt idx="14">
                    <c:v>09/05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 </c:v>
                  </c:pt>
                  <c:pt idx="21">
                    <c:v>09/12</c:v>
                  </c:pt>
                  <c:pt idx="22">
                    <c:v> </c:v>
                  </c:pt>
                  <c:pt idx="23">
                    <c:v> </c:v>
                  </c:pt>
                  <c:pt idx="24">
                    <c:v> 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09/19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09/26</c:v>
                  </c:pt>
                  <c:pt idx="36">
                    <c:v> 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  <c:pt idx="41">
                    <c:v> </c:v>
                  </c:pt>
                  <c:pt idx="42">
                    <c:v>10/03</c:v>
                  </c:pt>
                  <c:pt idx="43">
                    <c:v> </c:v>
                  </c:pt>
                  <c:pt idx="44">
                    <c:v> </c:v>
                  </c:pt>
                  <c:pt idx="45">
                    <c:v> </c:v>
                  </c:pt>
                </c:lvl>
              </c:multiLvlStrCache>
            </c:multiLvlStr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4.6</c:v>
                </c:pt>
                <c:pt idx="1">
                  <c:v>4.2</c:v>
                </c:pt>
                <c:pt idx="2">
                  <c:v>6.6</c:v>
                </c:pt>
                <c:pt idx="3">
                  <c:v>5.4</c:v>
                </c:pt>
                <c:pt idx="4">
                  <c:v>4.7</c:v>
                </c:pt>
                <c:pt idx="5">
                  <c:v>5.6</c:v>
                </c:pt>
                <c:pt idx="6">
                  <c:v>3.6</c:v>
                </c:pt>
                <c:pt idx="7">
                  <c:v>5.4</c:v>
                </c:pt>
                <c:pt idx="8">
                  <c:v>4.6</c:v>
                </c:pt>
                <c:pt idx="9">
                  <c:v>3.3</c:v>
                </c:pt>
                <c:pt idx="10">
                  <c:v>5.3</c:v>
                </c:pt>
                <c:pt idx="11">
                  <c:v>6.4</c:v>
                </c:pt>
                <c:pt idx="12">
                  <c:v>7</c:v>
                </c:pt>
                <c:pt idx="13">
                  <c:v>3.3</c:v>
                </c:pt>
                <c:pt idx="14">
                  <c:v>3.5</c:v>
                </c:pt>
                <c:pt idx="15">
                  <c:v>3.6</c:v>
                </c:pt>
                <c:pt idx="16">
                  <c:v>3.8</c:v>
                </c:pt>
                <c:pt idx="17">
                  <c:v>4.4</c:v>
                </c:pt>
                <c:pt idx="18">
                  <c:v>5.9</c:v>
                </c:pt>
                <c:pt idx="19">
                  <c:v>4.2</c:v>
                </c:pt>
                <c:pt idx="20">
                  <c:v>4.9</c:v>
                </c:pt>
                <c:pt idx="21">
                  <c:v>4.8</c:v>
                </c:pt>
                <c:pt idx="22">
                  <c:v>5.6</c:v>
                </c:pt>
                <c:pt idx="23">
                  <c:v>4.2</c:v>
                </c:pt>
                <c:pt idx="24">
                  <c:v>5.2</c:v>
                </c:pt>
                <c:pt idx="25">
                  <c:v>4.5</c:v>
                </c:pt>
                <c:pt idx="26">
                  <c:v>4.3</c:v>
                </c:pt>
                <c:pt idx="27">
                  <c:v>3.7</c:v>
                </c:pt>
                <c:pt idx="28">
                  <c:v>4</c:v>
                </c:pt>
                <c:pt idx="29">
                  <c:v>3.8</c:v>
                </c:pt>
                <c:pt idx="30">
                  <c:v>4</c:v>
                </c:pt>
                <c:pt idx="31">
                  <c:v>5.4</c:v>
                </c:pt>
                <c:pt idx="32">
                  <c:v>4.9</c:v>
                </c:pt>
                <c:pt idx="33">
                  <c:v>3.3</c:v>
                </c:pt>
                <c:pt idx="34">
                  <c:v>3.7</c:v>
                </c:pt>
                <c:pt idx="35">
                  <c:v>4.5</c:v>
                </c:pt>
                <c:pt idx="36">
                  <c:v>5</c:v>
                </c:pt>
                <c:pt idx="37">
                  <c:v>14.2</c:v>
                </c:pt>
                <c:pt idx="38">
                  <c:v>17.7</c:v>
                </c:pt>
                <c:pt idx="39">
                  <c:v>22.8</c:v>
                </c:pt>
                <c:pt idx="40">
                  <c:v>23</c:v>
                </c:pt>
                <c:pt idx="41">
                  <c:v>11.7</c:v>
                </c:pt>
                <c:pt idx="42">
                  <c:v>4.4</c:v>
                </c:pt>
                <c:pt idx="43">
                  <c:v>3.5</c:v>
                </c:pt>
                <c:pt idx="44">
                  <c:v>3.9</c:v>
                </c:pt>
                <c:pt idx="45">
                  <c:v>6.5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자율기준 20</c:v>
                </c:pt>
              </c:strCache>
            </c:strRef>
          </c:tx>
          <c:spPr>
            <a:solidFill>
              <a:srgbClr val="D03B3B"/>
            </a:solidFill>
            <a:ln w="15875" cap="flat">
              <a:solidFill>
                <a:srgbClr val="D03B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3B3B"/>
              </a:solidFill>
              <a:ln w="9525" cap="flat">
                <a:solidFill>
                  <a:srgbClr val="D03B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08/22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08/29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 </c:v>
                  </c:pt>
                  <c:pt idx="13">
                    <c:v> </c:v>
                  </c:pt>
                  <c:pt idx="14">
                    <c:v>09/05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 </c:v>
                  </c:pt>
                  <c:pt idx="21">
                    <c:v>09/12</c:v>
                  </c:pt>
                  <c:pt idx="22">
                    <c:v> </c:v>
                  </c:pt>
                  <c:pt idx="23">
                    <c:v> </c:v>
                  </c:pt>
                  <c:pt idx="24">
                    <c:v> 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09/19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09/26</c:v>
                  </c:pt>
                  <c:pt idx="36">
                    <c:v> 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  <c:pt idx="41">
                    <c:v> </c:v>
                  </c:pt>
                  <c:pt idx="42">
                    <c:v>10/03</c:v>
                  </c:pt>
                  <c:pt idx="43">
                    <c:v> </c:v>
                  </c:pt>
                  <c:pt idx="44">
                    <c:v> </c:v>
                  </c:pt>
                  <c:pt idx="45">
                    <c:v> </c:v>
                  </c:pt>
                </c:lvl>
              </c:multiLvlStrCache>
            </c:multiLvlStrRef>
          </c:cat>
          <c:val>
            <c:numRef>
              <c:f>Sheet1!$C$2:$C$47</c:f>
              <c:numCache>
                <c:formatCode>General</c:formatCode>
                <c:ptCount val="46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20</c:v>
                </c:pt>
                <c:pt idx="24">
                  <c:v>20</c:v>
                </c:pt>
                <c:pt idx="25">
                  <c:v>20</c:v>
                </c:pt>
                <c:pt idx="26">
                  <c:v>20</c:v>
                </c:pt>
                <c:pt idx="27">
                  <c:v>20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20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20</c:v>
                </c:pt>
                <c:pt idx="40">
                  <c:v>20</c:v>
                </c:pt>
                <c:pt idx="41">
                  <c:v>20</c:v>
                </c:pt>
                <c:pt idx="42">
                  <c:v>20</c:v>
                </c:pt>
                <c:pt idx="43">
                  <c:v>20</c:v>
                </c:pt>
                <c:pt idx="44">
                  <c:v>20</c:v>
                </c:pt>
                <c:pt idx="45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사내 경고 18</c:v>
                </c:pt>
              </c:strCache>
            </c:strRef>
          </c:tx>
          <c:spPr>
            <a:solidFill>
              <a:srgbClr val="EC835A"/>
            </a:solidFill>
            <a:ln w="15875" cap="flat">
              <a:solidFill>
                <a:srgbClr val="EC835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835A"/>
              </a:solidFill>
              <a:ln w="9525" cap="flat">
                <a:solidFill>
                  <a:srgbClr val="EC83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08/22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08/29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 </c:v>
                  </c:pt>
                  <c:pt idx="13">
                    <c:v> </c:v>
                  </c:pt>
                  <c:pt idx="14">
                    <c:v>09/05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 </c:v>
                  </c:pt>
                  <c:pt idx="21">
                    <c:v>09/12</c:v>
                  </c:pt>
                  <c:pt idx="22">
                    <c:v> </c:v>
                  </c:pt>
                  <c:pt idx="23">
                    <c:v> </c:v>
                  </c:pt>
                  <c:pt idx="24">
                    <c:v> 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09/19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09/26</c:v>
                  </c:pt>
                  <c:pt idx="36">
                    <c:v> 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  <c:pt idx="41">
                    <c:v> </c:v>
                  </c:pt>
                  <c:pt idx="42">
                    <c:v>10/03</c:v>
                  </c:pt>
                  <c:pt idx="43">
                    <c:v> </c:v>
                  </c:pt>
                  <c:pt idx="44">
                    <c:v> </c:v>
                  </c:pt>
                  <c:pt idx="45">
                    <c:v> </c:v>
                  </c:pt>
                </c:lvl>
              </c:multiLvlStrCache>
            </c:multiLvlStrRef>
          </c:cat>
          <c:val>
            <c:numRef>
              <c:f>Sheet1!$D$2:$D$47</c:f>
              <c:numCache>
                <c:formatCode>General</c:formatCode>
                <c:ptCount val="46"/>
                <c:pt idx="0">
                  <c:v>18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18</c:v>
                </c:pt>
                <c:pt idx="5">
                  <c:v>18</c:v>
                </c:pt>
                <c:pt idx="6">
                  <c:v>18</c:v>
                </c:pt>
                <c:pt idx="7">
                  <c:v>18</c:v>
                </c:pt>
                <c:pt idx="8">
                  <c:v>18</c:v>
                </c:pt>
                <c:pt idx="9">
                  <c:v>18</c:v>
                </c:pt>
                <c:pt idx="10">
                  <c:v>18</c:v>
                </c:pt>
                <c:pt idx="11">
                  <c:v>18</c:v>
                </c:pt>
                <c:pt idx="12">
                  <c:v>18</c:v>
                </c:pt>
                <c:pt idx="13">
                  <c:v>18</c:v>
                </c:pt>
                <c:pt idx="14">
                  <c:v>18</c:v>
                </c:pt>
                <c:pt idx="15">
                  <c:v>18</c:v>
                </c:pt>
                <c:pt idx="16">
                  <c:v>18</c:v>
                </c:pt>
                <c:pt idx="17">
                  <c:v>18</c:v>
                </c:pt>
                <c:pt idx="18">
                  <c:v>18</c:v>
                </c:pt>
                <c:pt idx="19">
                  <c:v>18</c:v>
                </c:pt>
                <c:pt idx="20">
                  <c:v>18</c:v>
                </c:pt>
                <c:pt idx="21">
                  <c:v>18</c:v>
                </c:pt>
                <c:pt idx="22">
                  <c:v>18</c:v>
                </c:pt>
                <c:pt idx="23">
                  <c:v>18</c:v>
                </c:pt>
                <c:pt idx="24">
                  <c:v>18</c:v>
                </c:pt>
                <c:pt idx="25">
                  <c:v>18</c:v>
                </c:pt>
                <c:pt idx="26">
                  <c:v>18</c:v>
                </c:pt>
                <c:pt idx="27">
                  <c:v>18</c:v>
                </c:pt>
                <c:pt idx="28">
                  <c:v>18</c:v>
                </c:pt>
                <c:pt idx="29">
                  <c:v>18</c:v>
                </c:pt>
                <c:pt idx="30">
                  <c:v>18</c:v>
                </c:pt>
                <c:pt idx="31">
                  <c:v>18</c:v>
                </c:pt>
                <c:pt idx="32">
                  <c:v>18</c:v>
                </c:pt>
                <c:pt idx="33">
                  <c:v>18</c:v>
                </c:pt>
                <c:pt idx="34">
                  <c:v>18</c:v>
                </c:pt>
                <c:pt idx="35">
                  <c:v>18</c:v>
                </c:pt>
                <c:pt idx="36">
                  <c:v>18</c:v>
                </c:pt>
                <c:pt idx="37">
                  <c:v>18</c:v>
                </c:pt>
                <c:pt idx="38">
                  <c:v>18</c:v>
                </c:pt>
                <c:pt idx="39">
                  <c:v>18</c:v>
                </c:pt>
                <c:pt idx="40">
                  <c:v>18</c:v>
                </c:pt>
                <c:pt idx="41">
                  <c:v>18</c:v>
                </c:pt>
                <c:pt idx="42">
                  <c:v>18</c:v>
                </c:pt>
                <c:pt idx="43">
                  <c:v>18</c:v>
                </c:pt>
                <c:pt idx="44">
                  <c:v>18</c:v>
                </c:pt>
                <c:pt idx="45">
                  <c:v>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F6B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1단계 품질 감시·알림·진단 시스템에 이어, 원료 배합 설계부터 제품 강도·6가크롬 예측, LIMS 자동 연동, AI 솔루션 보고서까지 확장한 결과를 보고드립니다.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숫자가 핵심입니다. 배합은 목표 계수를 정확히 맞추고, 28일 강도는 생산 당일 약 1 MPa 오차로 예측하며, 6가크롬 전환율은 실측으로 보정됩니다. 모두 가상 데이터 기준이며 실데이터 검증이 다음 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위쪽은 원료에서 제품 강도까지 이어지는 설계·예측 흐름이고, 아래는 6가크롬, LIMS, AI 세 가지 확장 기능입니다.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석회석·규석·점토·철광석·석탄재 다섯 원료로 목표 계수를 정확히 맞췄고, 허용 편차 안에서 원가 최소 배합을 고르면 원료비가 3.5% 낮아집니다(예시 단가 기준).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배합이 실제 소성 후 어떤 클링커가 되는지를 생료 분석값으로 예측해 실측과 대조했습니다. 차이가 나면 석탄회 흡수율 보정값을 시스템이 제안합니다.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28일 예측은 조기강도 결과가 나와야 했지만, 새 모델은 생산 당일 클링커 광물과 분말도·SO₃만으로 모든 재령을 예측합니다.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최근 로트는 사내 하한은 만족하지만 목표값에는 조금 못 미칩니다. 시스템은 분말도를 약 55 cm²/g 올리는 한 가지 조치로 세 재령 목표를 모두 맞출 수 있다고 계산합니다.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조건에서 6가크롬은 석회석, 크롬계 내화물, 점토, 석탄재 순으로 기여합니다. 국내 자율기준 대비 여유는 충분하고, EU 수준으로 낮추려면 황산제1철 약 1.6 kg/t, 원가 약 300원/t가 필요한 것으로 추정됩니다.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클링커 일일 시료의 총크롬과 6가크롬 실측으로 전환율을 보정합니다. 데모에 넣은 고크롬 원료 투입 사고를 자율기준 초과 알림으로 잡았고, 원인도 원료 크롬 증가로 정확히 진단했습니다.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LIMS에 결과가 승인되면 다음 동기화 때 자동으로 들어옵니다. 실제 연결을 위해 당사 LIMS의 제품과 접근 방식을 확인해야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AI는 보고서 작성만 맡고, 판단 근거가 되는 숫자는 모두 시스템이 계산합니다. 외부 서비스이므로 보안 승인이 필요하며, 승인 전에도 규칙 기반 솔루션은 그대로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 공장 데이터에 일부러 넣은 관계와 사고를 시스템이 정확히 찾아냈다는 것이 이번 검증의 의미입니다. 실제 공정에서의 정확도는 실데이터 시범에서 확인하겠습니다.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LIMS 접근, 분석 데이터, AI 보안 승인 세 가지를 지원해 주시면 3개월 뒤 실데이터 기준 성과를 보고드리겠습니다.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002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002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QMS 2단계 기능 확장 보고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원료 배합 설계 · 재령별 강도 예측 · 6가크롬 관리 · LIMS 연동 · AI 솔루션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품질관리팀  ·  2026년 10월  ·  경영진 보고</a:t>
            </a:r>
            <a:endParaRPr lang="en-US" sz="1400" dirty="0"/>
          </a:p>
        </p:txBody>
      </p:sp>
      <p:sp>
        <p:nvSpPr>
          <p:cNvPr id="5" name="Motif 1 circle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Motif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4497019"/>
            <a:ext cx="332842" cy="332842"/>
          </a:xfrm>
          <a:prstGeom prst="rect">
            <a:avLst/>
          </a:prstGeom>
        </p:spPr>
      </p:pic>
      <p:sp>
        <p:nvSpPr>
          <p:cNvPr id="7" name="Motif 2 circle"/>
          <p:cNvSpPr/>
          <p:nvPr/>
        </p:nvSpPr>
        <p:spPr>
          <a:xfrm>
            <a:off x="1600200" y="4343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Motif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19" y="4497019"/>
            <a:ext cx="332842" cy="332842"/>
          </a:xfrm>
          <a:prstGeom prst="rect">
            <a:avLst/>
          </a:prstGeom>
        </p:spPr>
      </p:pic>
      <p:sp>
        <p:nvSpPr>
          <p:cNvPr id="9" name="Motif 3 circle"/>
          <p:cNvSpPr/>
          <p:nvPr/>
        </p:nvSpPr>
        <p:spPr>
          <a:xfrm>
            <a:off x="2468880" y="4343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Motif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499" y="4497019"/>
            <a:ext cx="332842" cy="332842"/>
          </a:xfrm>
          <a:prstGeom prst="rect">
            <a:avLst/>
          </a:prstGeom>
        </p:spPr>
      </p:pic>
      <p:sp>
        <p:nvSpPr>
          <p:cNvPr id="11" name="Motif 4 circle"/>
          <p:cNvSpPr/>
          <p:nvPr/>
        </p:nvSpPr>
        <p:spPr>
          <a:xfrm>
            <a:off x="3337560" y="4343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Motif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179" y="4497019"/>
            <a:ext cx="332842" cy="332842"/>
          </a:xfrm>
          <a:prstGeom prst="rect">
            <a:avLst/>
          </a:prstGeom>
        </p:spPr>
      </p:pic>
      <p:sp>
        <p:nvSpPr>
          <p:cNvPr id="13" name="Motif 5 circle"/>
          <p:cNvSpPr/>
          <p:nvPr/>
        </p:nvSpPr>
        <p:spPr>
          <a:xfrm>
            <a:off x="4206240" y="4343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Motif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9859" y="449701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핵심 요약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감시를 넘어 '설계·예측·환경 품질'까지 확장했습니다 — LIMS 연결 후 실데이터 시범을 요청드립니다</a:t>
            </a:r>
            <a:endParaRPr lang="en-US" sz="1700" dirty="0"/>
          </a:p>
        </p:txBody>
      </p:sp>
      <p:sp>
        <p:nvSpPr>
          <p:cNvPr id="4" name="Stat 1"/>
          <p:cNvSpPr/>
          <p:nvPr/>
        </p:nvSpPr>
        <p:spPr>
          <a:xfrm>
            <a:off x="548640" y="1691640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0.00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41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배합 목표 편차(LSF·SM·IM)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원료 5종 자동 배합 · 원가 최소 시 원료비 −3.5%</a:t>
            </a:r>
            <a:endParaRPr lang="en-US" sz="1100" dirty="0"/>
          </a:p>
        </p:txBody>
      </p:sp>
      <p:sp>
        <p:nvSpPr>
          <p:cNvPr id="8" name="Stat 2"/>
          <p:cNvSpPr/>
          <p:nvPr/>
        </p:nvSpPr>
        <p:spPr>
          <a:xfrm>
            <a:off x="548640" y="3200400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649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1.08 MPa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28일 강도 예측 오차(LOO, 1종)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06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생산 당일 클링커·분쇄 조건으로 예측</a:t>
            </a:r>
            <a:endParaRPr lang="en-US" sz="1100" dirty="0"/>
          </a:p>
        </p:txBody>
      </p:sp>
      <p:sp>
        <p:nvSpPr>
          <p:cNvPr id="12" name="Stat 3"/>
          <p:cNvSpPr/>
          <p:nvPr/>
        </p:nvSpPr>
        <p:spPr>
          <a:xfrm>
            <a:off x="548640" y="4709160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8737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12.1%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58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실측 보정한 킬른 Cr⁶⁺ 전환율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715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데모 정답 12.0% 재현 · 문헌 범위 8~20%</a:t>
            </a:r>
            <a:endParaRPr lang="en-US" sz="1100" dirty="0"/>
          </a:p>
        </p:txBody>
      </p:sp>
      <p:sp>
        <p:nvSpPr>
          <p:cNvPr id="16" name="Summary 목적 circle"/>
          <p:cNvSpPr/>
          <p:nvPr/>
        </p:nvSpPr>
        <p:spPr>
          <a:xfrm>
            <a:off x="4892040" y="17373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Summary 목적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8103" y="1873423"/>
            <a:ext cx="294803" cy="294803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669280" y="171907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목적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20665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배합 설계 → 클링커 → 강도·응결 → 6가크롬까지 예측하고, 목표를 맞추는 조치를 제시</a:t>
            </a:r>
            <a:endParaRPr lang="en-US" sz="1400" dirty="0"/>
          </a:p>
        </p:txBody>
      </p:sp>
      <p:sp>
        <p:nvSpPr>
          <p:cNvPr id="20" name="Summary 2단계 결과 circle"/>
          <p:cNvSpPr/>
          <p:nvPr/>
        </p:nvSpPr>
        <p:spPr>
          <a:xfrm>
            <a:off x="4892040" y="285292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Summary 2단계 결과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103" y="2988991"/>
            <a:ext cx="294803" cy="29480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669280" y="2834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2단계 결과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5669280" y="318211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배합 최적화 · 클링커/XRD 예측 · 재령별 강도·응결 예측과 제어 솔루션 · 6가크롬 · LIMS 연동 · AI 보고서</a:t>
            </a:r>
            <a:endParaRPr lang="en-US" sz="1400" dirty="0"/>
          </a:p>
        </p:txBody>
      </p:sp>
      <p:sp>
        <p:nvSpPr>
          <p:cNvPr id="24" name="Summary 다음 단계 circle"/>
          <p:cNvSpPr/>
          <p:nvPr/>
        </p:nvSpPr>
        <p:spPr>
          <a:xfrm>
            <a:off x="4892040" y="396849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Summary 다음 단계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103" y="4104559"/>
            <a:ext cx="294803" cy="294803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669280" y="3950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다음 단계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5669280" y="4297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LIMS 실연결 후 2~3개월 실데이터로 예측 모델·전환율·환원제 계수를 공장에 맞게 보정</a:t>
            </a:r>
            <a:endParaRPr lang="en-US" sz="1400" dirty="0"/>
          </a:p>
        </p:txBody>
      </p:sp>
      <p:sp>
        <p:nvSpPr>
          <p:cNvPr id="28" name="Summary 요청 사항 circle"/>
          <p:cNvSpPr/>
          <p:nvPr/>
        </p:nvSpPr>
        <p:spPr>
          <a:xfrm>
            <a:off x="4892040" y="5084064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Summary 요청 사항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103" y="5220127"/>
            <a:ext cx="294803" cy="29480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669280" y="506577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요청 사항</a:t>
            </a:r>
            <a:endParaRPr lang="en-US" sz="1700" dirty="0"/>
          </a:p>
        </p:txBody>
      </p:sp>
      <p:sp>
        <p:nvSpPr>
          <p:cNvPr id="31" name="Text 25"/>
          <p:cNvSpPr txBox="1"/>
          <p:nvPr/>
        </p:nvSpPr>
        <p:spPr>
          <a:xfrm>
            <a:off x="5669280" y="541324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LIMS 접근 협조 · 원료·연료 크롬 분석 · AI 사용 보안 승인</a:t>
            </a:r>
            <a:endParaRPr lang="en-US" sz="1400" dirty="0"/>
          </a:p>
        </p:txBody>
      </p:sp>
      <p:sp>
        <p:nvSpPr>
          <p:cNvPr id="32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 수치는 데모(가상) 데이터 검증 결과 — 실데이터 성능은 3단계 시범 운영에서 확인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2단계 기능 구성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원료 배합부터 제품 강도·6가크롬까지 한 흐름으로 예측하고, LIMS 실측으로 계속 보정합니다</a:t>
            </a:r>
            <a:endParaRPr lang="en-US" sz="1700" dirty="0"/>
          </a:p>
        </p:txBody>
      </p:sp>
      <p:sp>
        <p:nvSpPr>
          <p:cNvPr id="4" name="Flow 1"/>
          <p:cNvSpPr/>
          <p:nvPr/>
        </p:nvSpPr>
        <p:spPr>
          <a:xfrm>
            <a:off x="548640" y="1691640"/>
            <a:ext cx="251460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low 1 circle"/>
          <p:cNvSpPr/>
          <p:nvPr/>
        </p:nvSpPr>
        <p:spPr>
          <a:xfrm>
            <a:off x="777240" y="18928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low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2028871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786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① 원료 배합 최적화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목표 LSF·SM·IM·C₃S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원가 최소 배합</a:t>
            </a:r>
            <a:endParaRPr lang="en-US" sz="1300" dirty="0"/>
          </a:p>
        </p:txBody>
      </p:sp>
      <p:sp>
        <p:nvSpPr>
          <p:cNvPr id="9" name="Flow arrow 1"/>
          <p:cNvSpPr/>
          <p:nvPr/>
        </p:nvSpPr>
        <p:spPr>
          <a:xfrm>
            <a:off x="3108960" y="2606040"/>
            <a:ext cx="256032" cy="292608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Flow 2"/>
          <p:cNvSpPr/>
          <p:nvPr/>
        </p:nvSpPr>
        <p:spPr>
          <a:xfrm>
            <a:off x="3410712" y="1691640"/>
            <a:ext cx="251460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Flow 2 circle"/>
          <p:cNvSpPr/>
          <p:nvPr/>
        </p:nvSpPr>
        <p:spPr>
          <a:xfrm>
            <a:off x="3639312" y="18928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Flow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375" y="2028871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25786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② 클링커 예측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29718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계수·Bogue·XRD 광물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f-CaO(소성성)</a:t>
            </a:r>
            <a:endParaRPr lang="en-US" sz="1300" dirty="0"/>
          </a:p>
        </p:txBody>
      </p:sp>
      <p:sp>
        <p:nvSpPr>
          <p:cNvPr id="15" name="Flow arrow 2"/>
          <p:cNvSpPr/>
          <p:nvPr/>
        </p:nvSpPr>
        <p:spPr>
          <a:xfrm>
            <a:off x="5971032" y="2606040"/>
            <a:ext cx="256032" cy="292608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Flow 3"/>
          <p:cNvSpPr/>
          <p:nvPr/>
        </p:nvSpPr>
        <p:spPr>
          <a:xfrm>
            <a:off x="6272784" y="1691640"/>
            <a:ext cx="251460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 3 circle"/>
          <p:cNvSpPr/>
          <p:nvPr/>
        </p:nvSpPr>
        <p:spPr>
          <a:xfrm>
            <a:off x="6501384" y="18928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Flow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447" y="2028871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01384" y="25786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③ 강도·응결 예측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1384" y="29718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1·3·7·28일 강도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초결·종결(95% 구간)</a:t>
            </a:r>
            <a:endParaRPr lang="en-US" sz="1300" dirty="0"/>
          </a:p>
        </p:txBody>
      </p:sp>
      <p:sp>
        <p:nvSpPr>
          <p:cNvPr id="21" name="Flow arrow 3"/>
          <p:cNvSpPr/>
          <p:nvPr/>
        </p:nvSpPr>
        <p:spPr>
          <a:xfrm>
            <a:off x="8833104" y="2606040"/>
            <a:ext cx="256032" cy="292608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Flow 4"/>
          <p:cNvSpPr/>
          <p:nvPr/>
        </p:nvSpPr>
        <p:spPr>
          <a:xfrm>
            <a:off x="9134856" y="1691640"/>
            <a:ext cx="251460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Flow 4 circle"/>
          <p:cNvSpPr/>
          <p:nvPr/>
        </p:nvSpPr>
        <p:spPr>
          <a:xfrm>
            <a:off x="9363456" y="18928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Flow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519" y="2028871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63456" y="25786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④ 제어 솔루션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363456" y="29718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목표 달성 최소 조치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조치 지식베이스</a:t>
            </a:r>
            <a:endParaRPr lang="en-US" sz="1300" dirty="0"/>
          </a:p>
        </p:txBody>
      </p:sp>
      <p:sp>
        <p:nvSpPr>
          <p:cNvPr id="27" name="Extra 1"/>
          <p:cNvSpPr/>
          <p:nvPr/>
        </p:nvSpPr>
        <p:spPr>
          <a:xfrm>
            <a:off x="548640" y="406908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Extra 1 circle"/>
          <p:cNvSpPr/>
          <p:nvPr/>
        </p:nvSpPr>
        <p:spPr>
          <a:xfrm>
            <a:off x="777240" y="427024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Extra 1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3" y="4406311"/>
            <a:ext cx="294803" cy="29480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508760" y="4370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시멘트 6가크롬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777240" y="49560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원료·연료·내화물 총 크롬 물질수지 × 킬른 전환율 → Cr⁶⁺ 예측, 환원제 필요량·원가, 실측 보정</a:t>
            </a:r>
            <a:endParaRPr lang="en-US" sz="1300" dirty="0"/>
          </a:p>
        </p:txBody>
      </p:sp>
      <p:sp>
        <p:nvSpPr>
          <p:cNvPr id="32" name="Extra 2"/>
          <p:cNvSpPr/>
          <p:nvPr/>
        </p:nvSpPr>
        <p:spPr>
          <a:xfrm>
            <a:off x="4297680" y="406908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Extra 2 circle"/>
          <p:cNvSpPr/>
          <p:nvPr/>
        </p:nvSpPr>
        <p:spPr>
          <a:xfrm>
            <a:off x="4526280" y="427024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Extra 2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2343" y="4406311"/>
            <a:ext cx="294803" cy="294803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257800" y="4370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LIMS 연동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4526280" y="49560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승인된 시험 결과만 증분 동기화 → 모니터링·예측에 즉시 반영(SQL·REST·파일)</a:t>
            </a:r>
            <a:endParaRPr lang="en-US" sz="1300" dirty="0"/>
          </a:p>
        </p:txBody>
      </p:sp>
      <p:sp>
        <p:nvSpPr>
          <p:cNvPr id="37" name="Extra 3"/>
          <p:cNvSpPr/>
          <p:nvPr/>
        </p:nvSpPr>
        <p:spPr>
          <a:xfrm>
            <a:off x="8046720" y="406908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Extra 3 circle"/>
          <p:cNvSpPr/>
          <p:nvPr/>
        </p:nvSpPr>
        <p:spPr>
          <a:xfrm>
            <a:off x="8275320" y="427024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9" name="Extra 3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1383" y="4406311"/>
            <a:ext cx="294803" cy="294803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006840" y="4370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솔루션 보고서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8275320" y="49560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계산 결과와 지식베이스만 근거로 경영진용 보고서 작성(사실/추정 구분)</a:t>
            </a:r>
            <a:endParaRPr lang="en-US" sz="1300" dirty="0"/>
          </a:p>
        </p:txBody>
      </p:sp>
      <p:sp>
        <p:nvSpPr>
          <p:cNvPr id="42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화면: 🧪 원료 배합·클링커 설계(①~④) · ☢️ 시멘트 6가크롬 · 🔗 LIMS 연동 · ⚙️ AI(LLM) 설정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원료 배합·클링커 설계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목표 LSF·SM·IM을 정확히 맞추는 배합비를 자동 계산하고, 원가가 가장 낮은 배합도 제시합니다</a:t>
            </a:r>
            <a:endParaRPr lang="en-US" sz="1700" dirty="0"/>
          </a:p>
        </p:txBody>
      </p:sp>
      <p:pic>
        <p:nvPicPr>
          <p:cNvPr id="4" name="Screen raw mix" descr="/home/user/Blue365/docs/img/deck_rawmi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341711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18481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실제 화면: 예시 원료 5종 → 클링커 기준 LSF 95.0 · SM 2.50 · IM 1.60 달성</a:t>
            </a:r>
            <a:endParaRPr lang="en-US" sz="1100" dirty="0"/>
          </a:p>
        </p:txBody>
      </p:sp>
      <p:sp>
        <p:nvSpPr>
          <p:cNvPr id="6" name="Raw mix points"/>
          <p:cNvSpPr/>
          <p:nvPr/>
        </p:nvSpPr>
        <p:spPr>
          <a:xfrm>
            <a:off x="7589520" y="1691640"/>
            <a:ext cx="4023360" cy="44805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계산 방식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212848"/>
            <a:ext cx="3611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석탄회 흡수까지 반영한 클링커 기준 목표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원료별 하한·상한·고정 비율 제약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목표 근접(최소자승) 또는 원가 최소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건조→습윤 배합비(정량공급기 설정값)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원료 1%p 변경 시 계수 변화(민감도)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4343400"/>
          <a:ext cx="3566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계산 방식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원료비(원/t-클링커)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목표 근접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14,394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원가 최소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13,884 (−3.5%)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818120" y="55321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예측 클링커: C₃S 57.9% · 액상량 26.5% · XRD 알라이트 64.5%</a:t>
            </a:r>
            <a:endParaRPr lang="en-US" sz="1200" dirty="0"/>
          </a:p>
        </p:txBody>
      </p:sp>
      <p:sp>
        <p:nvSpPr>
          <p:cNvPr id="11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 원료 성분·단가는 예시값(추정) — 원료 입고 분석값으로 교체해 사용. 배합 설계서(엑셀) 자동 생성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클링커 예측 검증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생료 분석값으로 클링커 LSF를 예측하고, 제안한 석탄회 흡수율 보정으로 오차를 0.50 → 0.26로 줄입니다</a:t>
            </a:r>
            <a:endParaRPr lang="en-US" sz="1700" dirty="0"/>
          </a:p>
        </p:txBody>
      </p:sp>
      <p:graphicFrame>
        <p:nvGraphicFramePr>
          <p:cNvPr id="4" name="LSF chart" descr=""/>
          <p:cNvGraphicFramePr/>
          <p:nvPr/>
        </p:nvGraphicFramePr>
        <p:xfrm>
          <a:off x="548640" y="1691640"/>
          <a:ext cx="69494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KPI LSF"/>
          <p:cNvSpPr/>
          <p:nvPr/>
        </p:nvSpPr>
        <p:spPr>
          <a:xfrm>
            <a:off x="7772400" y="1691640"/>
            <a:ext cx="11887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82128" y="18105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0.26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882128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LSF 오차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882128" y="25237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보정 전 0.50</a:t>
            </a:r>
            <a:endParaRPr lang="en-US" sz="1000" dirty="0"/>
          </a:p>
        </p:txBody>
      </p:sp>
      <p:sp>
        <p:nvSpPr>
          <p:cNvPr id="9" name="KPI SM"/>
          <p:cNvSpPr/>
          <p:nvPr/>
        </p:nvSpPr>
        <p:spPr>
          <a:xfrm>
            <a:off x="9079992" y="1691640"/>
            <a:ext cx="11887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89720" y="18105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0.012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SM 오차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25237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보정 전 0.013</a:t>
            </a:r>
            <a:endParaRPr lang="en-US" sz="1000" dirty="0"/>
          </a:p>
        </p:txBody>
      </p:sp>
      <p:sp>
        <p:nvSpPr>
          <p:cNvPr id="13" name="KPI IM"/>
          <p:cNvSpPr/>
          <p:nvPr/>
        </p:nvSpPr>
        <p:spPr>
          <a:xfrm>
            <a:off x="10387584" y="1691640"/>
            <a:ext cx="11887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97312" y="18105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0.013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0497312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IM 오차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497312" y="25237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보정 전 0.015</a:t>
            </a:r>
            <a:endParaRPr lang="en-US" sz="1000" dirty="0"/>
          </a:p>
        </p:txBody>
      </p:sp>
      <p:sp>
        <p:nvSpPr>
          <p:cNvPr id="17" name="Conversion insight"/>
          <p:cNvSpPr/>
          <p:nvPr/>
        </p:nvSpPr>
        <p:spPr>
          <a:xfrm>
            <a:off x="7772400" y="3017520"/>
            <a:ext cx="384048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0100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읽는 법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356616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오차 = 생료 실측으로 계산한 클링커 계수와 실측의 RMSE(전체 기간)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석탄회 흡수 실적 0.0151 vs 설정 0.0167 → 시스템이 흡수율 90%로 보정 제안(위 오차는 보정 후)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f-CaO 소성성 회귀 R² 0.89 — LSF·SM·잔사·소성대 온도로 예측</a:t>
            </a:r>
            <a:endParaRPr lang="en-US" sz="1400" dirty="0"/>
          </a:p>
        </p:txBody>
      </p:sp>
      <p:sp>
        <p:nvSpPr>
          <p:cNvPr id="20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Blue365 QMS 실적 검증(데모 데이터, 생료 2시간 → 클링커 대응) · 오차 단위 = 각 계수 단위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재령별 강도·응결 예측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클링커 광물(XRD)·분쇄 조건으로 1·3·7·28일 강도와 응결을 생산 당일 예측합니다</a:t>
            </a:r>
            <a:endParaRPr lang="en-US" sz="1700" dirty="0"/>
          </a:p>
        </p:txBody>
      </p:sp>
      <p:pic>
        <p:nvPicPr>
          <p:cNvPr id="4" name="Screen strength" descr="/home/user/Blue365/docs/img/deck_streng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243596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56202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828800"/>
                <a:gridCol w="2286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항목(1종)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학습 로트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예측 오차(LOO)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모델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3일 강도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0.71 MPa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경험칙 + 공장 보정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7일 강도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0.87 MPa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경험칙 + 공장 보정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28일 강도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1.08 MPa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경험칙 + 공장 보정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초결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11.34 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경험칙 + 공장 보정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종결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14.69 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경험칙 + 공장 보정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trength method"/>
          <p:cNvSpPr/>
          <p:nvPr/>
        </p:nvSpPr>
        <p:spPr>
          <a:xfrm>
            <a:off x="7589520" y="1691640"/>
            <a:ext cx="4023360" cy="44805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Method circle"/>
          <p:cNvSpPr/>
          <p:nvPr/>
        </p:nvSpPr>
        <p:spPr>
          <a:xfrm>
            <a:off x="7818120" y="1874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Metho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794" y="2006194"/>
            <a:ext cx="285293" cy="28529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03920" y="1984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예측 모델 설계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7818120" y="2606040"/>
            <a:ext cx="3611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경험칙 계수에서 출발해 공장 데이터로 보정(데이터가 적으면 경험칙 유지)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XRD 실측 광물 우선, 없는 날은 Bogue 값을 보정식으로 환산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시험조건(양생수 온도 등) 이탈 로트는 학습 제외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이론과 반대 부호 계수는 자동 차단 — 과적합·외삽 방지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입력별 기여도로 '왜 이 값인가'를 설명</a:t>
            </a:r>
            <a:endParaRPr lang="en-US" sz="1400" dirty="0"/>
          </a:p>
        </p:txBody>
      </p:sp>
      <p:sp>
        <p:nvSpPr>
          <p:cNvPr id="11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 예측구간 = 예측 ± 1.96 × LOO 오차(약 95%) · 데모 데이터 기준 — 실데이터로 재학습 필요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강도·응결 제어 솔루션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목표를 맞추는 '최소 조치'를 계산합니다 — 예: 사내 목표 달성에 분말도 +55 cm²/g 하나로 충분</a:t>
            </a:r>
            <a:endParaRPr lang="en-US" sz="1700" dirty="0"/>
          </a:p>
        </p:txBody>
      </p:sp>
      <p:sp>
        <p:nvSpPr>
          <p:cNvPr id="4" name="Step 1"/>
          <p:cNvSpPr/>
          <p:nvPr/>
        </p:nvSpPr>
        <p:spPr>
          <a:xfrm>
            <a:off x="548640" y="1691640"/>
            <a:ext cx="393192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1 circle"/>
          <p:cNvSpPr/>
          <p:nvPr/>
        </p:nvSpPr>
        <p:spPr>
          <a:xfrm>
            <a:off x="731520" y="189280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20244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379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목표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671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사내 목표값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3일 29.5·7일 40·28일 53 MPa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초결 150~300분</a:t>
            </a:r>
            <a:endParaRPr lang="en-US" sz="1200" dirty="0"/>
          </a:p>
        </p:txBody>
      </p:sp>
      <p:sp>
        <p:nvSpPr>
          <p:cNvPr id="9" name="Step 2"/>
          <p:cNvSpPr/>
          <p:nvPr/>
        </p:nvSpPr>
        <p:spPr>
          <a:xfrm>
            <a:off x="548640" y="3172968"/>
            <a:ext cx="393192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2 circle"/>
          <p:cNvSpPr/>
          <p:nvPr/>
        </p:nvSpPr>
        <p:spPr>
          <a:xfrm>
            <a:off x="731520" y="337413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4" y="3505810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3192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최적화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64845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레버 7종(분말도·SO₃·석회석·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알라이트·C₃A·f-CaO·밀 온도)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변경 비용 최소</a:t>
            </a:r>
            <a:endParaRPr lang="en-US" sz="1200" dirty="0"/>
          </a:p>
        </p:txBody>
      </p:sp>
      <p:sp>
        <p:nvSpPr>
          <p:cNvPr id="14" name="Step 3"/>
          <p:cNvSpPr/>
          <p:nvPr/>
        </p:nvSpPr>
        <p:spPr>
          <a:xfrm>
            <a:off x="548640" y="4654296"/>
            <a:ext cx="3931920" cy="1298448"/>
          </a:xfrm>
          <a:prstGeom prst="roundRect">
            <a:avLst>
              <a:gd name="adj" fmla="val 5634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15" name="Step 3 circle"/>
          <p:cNvSpPr/>
          <p:nvPr/>
        </p:nvSpPr>
        <p:spPr>
          <a:xfrm>
            <a:off x="731520" y="485546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4987138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800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권장 조치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512978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분말도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3,436 → 3,491 cm²/g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691640"/>
          <a:ext cx="68122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17320"/>
                <a:gridCol w="1325880"/>
                <a:gridCol w="14630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목표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현재 예측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조치 후 예측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판정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3일 강도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≥ 29.5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29.1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29.8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7일 강도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≥ 40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39.5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40.2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28일 강도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≥ 53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52.6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53.0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초결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150 ~ 300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217.8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214.6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종결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≤ 420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296.1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292.8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충족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KB groups"/>
          <p:cNvSpPr/>
          <p:nvPr/>
        </p:nvSpPr>
        <p:spPr>
          <a:xfrm>
            <a:off x="4800600" y="4206240"/>
            <a:ext cx="68122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029200" y="43159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함께 제시되는 조치 라이브러리(효과·부작용·확인 방법 포함)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029200" y="4681728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초기강도↑: 분말도·SO₃ 최적화·석회석↓·C₃A↑·알라이트↑·분쇄조제(TEA)·급랭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장기강도↑: 알라이트↑·f-CaO 안정화·석회석↓·알칼리↓·SO₃ 최적·TIPA·풍화 방지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응결 연장/단축: 석고(SO₃)·밀 출구 온도·C₃A·분말도 — 예: 초결 +20분 → SO₃(석고 투입) +0.36%p</a:t>
            </a:r>
            <a:endParaRPr lang="en-US" sz="1400" dirty="0"/>
          </a:p>
        </p:txBody>
      </p:sp>
      <p:sp>
        <p:nvSpPr>
          <p:cNvPr id="23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 효과 수치는 예측 모델·경험칙 기반 추정 — 실기 시험으로 확인 후 적용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시멘트 6가크롬 예측·환원제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총 크롬 물질수지로 Cr⁶⁺를 예측하고, 기준별 환원제 필요량과 원가를 산출합니다</a:t>
            </a:r>
            <a:endParaRPr lang="en-US" sz="1700" dirty="0"/>
          </a:p>
        </p:txBody>
      </p:sp>
      <p:graphicFrame>
        <p:nvGraphicFramePr>
          <p:cNvPr id="4" name="Cr pareto chart" descr=""/>
          <p:cNvGraphicFramePr/>
          <p:nvPr/>
        </p:nvGraphicFramePr>
        <p:xfrm>
          <a:off x="548640" y="1691640"/>
          <a:ext cx="57607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r KPI 1"/>
          <p:cNvSpPr/>
          <p:nvPr/>
        </p:nvSpPr>
        <p:spPr>
          <a:xfrm>
            <a:off x="6583680" y="1691640"/>
            <a:ext cx="23774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48272" y="1801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63.7 mg/kg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748272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클링커 총 Cr</a:t>
            </a:r>
            <a:endParaRPr lang="en-US" sz="1200" dirty="0"/>
          </a:p>
        </p:txBody>
      </p:sp>
      <p:sp>
        <p:nvSpPr>
          <p:cNvPr id="8" name="Cr KPI 2"/>
          <p:cNvSpPr/>
          <p:nvPr/>
        </p:nvSpPr>
        <p:spPr>
          <a:xfrm>
            <a:off x="9144000" y="1691640"/>
            <a:ext cx="23774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08592" y="1801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7.72 mg/kg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308592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클링커 Cr⁶⁺</a:t>
            </a:r>
            <a:endParaRPr lang="en-US" sz="1200" dirty="0"/>
          </a:p>
        </p:txBody>
      </p:sp>
      <p:sp>
        <p:nvSpPr>
          <p:cNvPr id="11" name="Cr KPI 3"/>
          <p:cNvSpPr/>
          <p:nvPr/>
        </p:nvSpPr>
        <p:spPr>
          <a:xfrm>
            <a:off x="6583680" y="2788920"/>
            <a:ext cx="23774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48272" y="2898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7.21 mg/kg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748272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시멘트(환원 전)</a:t>
            </a:r>
            <a:endParaRPr lang="en-US" sz="1200" dirty="0"/>
          </a:p>
        </p:txBody>
      </p:sp>
      <p:sp>
        <p:nvSpPr>
          <p:cNvPr id="14" name="Cr KPI 4"/>
          <p:cNvSpPr/>
          <p:nvPr/>
        </p:nvSpPr>
        <p:spPr>
          <a:xfrm>
            <a:off x="9144000" y="2788920"/>
            <a:ext cx="23774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08592" y="2898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4.20 mg/kg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9308592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시멘트(환원 후)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977640"/>
          <a:ext cx="50292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43000"/>
                <a:gridCol w="1234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환원제(EU 2 mg/kg 대응)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투입량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원가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황산제1철 7수화물(FeSO₄·7H₂O)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1.56 kg/t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312 원/t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황산제1철 1수화물(FeSO₄·H₂O)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0.92 kg/t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276 원/t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황산제1주석(SnSO₄)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0.10 kg/t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3,086 원/t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583680" y="5623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전환율 12.1%(실측 보정) · 현재 투입 0.9 kg/t → 국내 자율기준 20 mg/kg 대비 충분한 여유</a:t>
            </a:r>
            <a:endParaRPr lang="en-US" sz="1200" dirty="0"/>
          </a:p>
        </p:txBody>
      </p:sp>
      <p:sp>
        <p:nvSpPr>
          <p:cNvPr id="19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 원료·연료 Cr 함량·과잉계수·단가는 예시값(추정). 국내 20(KS L 5221)과 EU 2(EN 196-10)는 시험법이 달라 직접 비교 불가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6가크롬 실측 보정·이상 감지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실측으로 전환율을 보정하고, 고크롬 원료 투입(S7)을 자동 감지해 원인을 맞혔습니다</a:t>
            </a:r>
            <a:endParaRPr lang="en-US" sz="1700" dirty="0"/>
          </a:p>
        </p:txBody>
      </p:sp>
      <p:graphicFrame>
        <p:nvGraphicFramePr>
          <p:cNvPr id="4" name="Cr trend chart" descr=""/>
          <p:cNvGraphicFramePr/>
          <p:nvPr/>
        </p:nvGraphicFramePr>
        <p:xfrm>
          <a:off x="548640" y="169164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libration card"/>
          <p:cNvSpPr/>
          <p:nvPr/>
        </p:nvSpPr>
        <p:spPr>
          <a:xfrm>
            <a:off x="7772400" y="1691640"/>
            <a:ext cx="38404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전환율 실측 보정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212848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클링커 총Cr·Cr⁶⁺ 실측 119건 → 중앙값 12.1%(사분위 11.2~12.9%)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킬른 O₂ 1%p↑ → 전환율 +3.0%p(회귀, 산화 분위기 영향)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환원제 실효 제거량 3.0 mg/kg(로트별 역산)</a:t>
            </a:r>
            <a:endParaRPr lang="en-US" sz="1400" dirty="0"/>
          </a:p>
        </p:txBody>
      </p:sp>
      <p:sp>
        <p:nvSpPr>
          <p:cNvPr id="8" name="S7 card"/>
          <p:cNvSpPr/>
          <p:nvPr/>
        </p:nvSpPr>
        <p:spPr>
          <a:xfrm>
            <a:off x="7772400" y="397764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9" name="S7 circle"/>
          <p:cNvSpPr/>
          <p:nvPr/>
        </p:nvSpPr>
        <p:spPr>
          <a:xfrm>
            <a:off x="7973568" y="4160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7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269" y="42812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595360" y="42336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이상 감지·원인 진단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001000" y="475488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09/30~10/01 최대 23.0 mg/kg → 🔴 자율기준 초과 알림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1순위 원인: [원료] 원·부원료·연료 크롬 투입 증가(데이터 지지)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데모 정답: 철질원을 고크롬 제강슬래그로 대체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근거: 클링커 Cr의 약 8~20%가 6가로 전환·산소·알칼리 영향(Costeri 2016, Hills &amp; Johansen 2007) · 데모 데이터 검증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LIMS 연동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LIMS의 승인된 결과만 자동으로 가져와 모니터링·예측에 바로 반영합니다</a:t>
            </a:r>
            <a:endParaRPr lang="en-US" sz="1700" dirty="0"/>
          </a:p>
        </p:txBody>
      </p:sp>
      <p:sp>
        <p:nvSpPr>
          <p:cNvPr id="4" name="LIMS step 1"/>
          <p:cNvSpPr/>
          <p:nvPr/>
        </p:nvSpPr>
        <p:spPr>
          <a:xfrm>
            <a:off x="548640" y="1691640"/>
            <a:ext cx="1664208" cy="2103120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IMS step 1 circle"/>
          <p:cNvSpPr/>
          <p:nvPr/>
        </p:nvSpPr>
        <p:spPr>
          <a:xfrm>
            <a:off x="1106424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LIMS 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098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48716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조회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85292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DB·API·파일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워터마크 이후만</a:t>
            </a:r>
            <a:endParaRPr lang="en-US" sz="1200" dirty="0"/>
          </a:p>
        </p:txBody>
      </p:sp>
      <p:sp>
        <p:nvSpPr>
          <p:cNvPr id="9" name="LIMS arrow 1"/>
          <p:cNvSpPr/>
          <p:nvPr/>
        </p:nvSpPr>
        <p:spPr>
          <a:xfrm>
            <a:off x="2240280" y="2606040"/>
            <a:ext cx="16459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LIMS step 2"/>
          <p:cNvSpPr/>
          <p:nvPr/>
        </p:nvSpPr>
        <p:spPr>
          <a:xfrm>
            <a:off x="2432304" y="1691640"/>
            <a:ext cx="1664208" cy="2103120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LIMS step 2 circle"/>
          <p:cNvSpPr/>
          <p:nvPr/>
        </p:nvSpPr>
        <p:spPr>
          <a:xfrm>
            <a:off x="2990088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LIMS 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62" y="19604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05456" y="248716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표준화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505456" y="285292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열 이름·날짜·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부등호 값 변환</a:t>
            </a:r>
            <a:endParaRPr lang="en-US" sz="1200" dirty="0"/>
          </a:p>
        </p:txBody>
      </p:sp>
      <p:sp>
        <p:nvSpPr>
          <p:cNvPr id="15" name="LIMS arrow 2"/>
          <p:cNvSpPr/>
          <p:nvPr/>
        </p:nvSpPr>
        <p:spPr>
          <a:xfrm>
            <a:off x="4123944" y="2606040"/>
            <a:ext cx="16459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LIMS step 3"/>
          <p:cNvSpPr/>
          <p:nvPr/>
        </p:nvSpPr>
        <p:spPr>
          <a:xfrm>
            <a:off x="4315968" y="1691640"/>
            <a:ext cx="1664208" cy="2103120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IMS step 3 circle"/>
          <p:cNvSpPr/>
          <p:nvPr/>
        </p:nvSpPr>
        <p:spPr>
          <a:xfrm>
            <a:off x="4873752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LIMS 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426" y="196047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389120" y="248716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승인 필터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389120" y="285292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APPROVED만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반영</a:t>
            </a:r>
            <a:endParaRPr lang="en-US" sz="1200" dirty="0"/>
          </a:p>
        </p:txBody>
      </p:sp>
      <p:sp>
        <p:nvSpPr>
          <p:cNvPr id="21" name="LIMS arrow 3"/>
          <p:cNvSpPr/>
          <p:nvPr/>
        </p:nvSpPr>
        <p:spPr>
          <a:xfrm>
            <a:off x="6007608" y="2606040"/>
            <a:ext cx="16459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LIMS step 4"/>
          <p:cNvSpPr/>
          <p:nvPr/>
        </p:nvSpPr>
        <p:spPr>
          <a:xfrm>
            <a:off x="6199632" y="1691640"/>
            <a:ext cx="1664208" cy="2103120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LIMS step 4 circle"/>
          <p:cNvSpPr/>
          <p:nvPr/>
        </p:nvSpPr>
        <p:spPr>
          <a:xfrm>
            <a:off x="6757416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LIMS 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090" y="196047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272784" y="248716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코드 매핑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272784" y="285292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시험코드 → QMS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기본 48개 항목</a:t>
            </a:r>
            <a:endParaRPr lang="en-US" sz="1200" dirty="0"/>
          </a:p>
        </p:txBody>
      </p:sp>
      <p:sp>
        <p:nvSpPr>
          <p:cNvPr id="27" name="LIMS arrow 4"/>
          <p:cNvSpPr/>
          <p:nvPr/>
        </p:nvSpPr>
        <p:spPr>
          <a:xfrm>
            <a:off x="7891272" y="2606040"/>
            <a:ext cx="16459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LIMS step 5"/>
          <p:cNvSpPr/>
          <p:nvPr/>
        </p:nvSpPr>
        <p:spPr>
          <a:xfrm>
            <a:off x="8083296" y="1691640"/>
            <a:ext cx="1664208" cy="2103120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LIMS step 5 circle"/>
          <p:cNvSpPr/>
          <p:nvPr/>
        </p:nvSpPr>
        <p:spPr>
          <a:xfrm>
            <a:off x="864108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LIMS ste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754" y="196047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156448" y="248716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열 단위 병합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8156448" y="285292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늦은 28일 강도도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같은 로트에 채움</a:t>
            </a:r>
            <a:endParaRPr lang="en-US" sz="1200" dirty="0"/>
          </a:p>
        </p:txBody>
      </p:sp>
      <p:sp>
        <p:nvSpPr>
          <p:cNvPr id="33" name="LIMS arrow 5"/>
          <p:cNvSpPr/>
          <p:nvPr/>
        </p:nvSpPr>
        <p:spPr>
          <a:xfrm>
            <a:off x="9774936" y="2606040"/>
            <a:ext cx="16459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LIMS step 6"/>
          <p:cNvSpPr/>
          <p:nvPr/>
        </p:nvSpPr>
        <p:spPr>
          <a:xfrm>
            <a:off x="9966960" y="1691640"/>
            <a:ext cx="1664208" cy="2103120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LIMS step 6 circle"/>
          <p:cNvSpPr/>
          <p:nvPr/>
        </p:nvSpPr>
        <p:spPr>
          <a:xfrm>
            <a:off x="10524744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LIMS step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6418" y="1960474"/>
            <a:ext cx="285293" cy="28529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040112" y="248716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감시·알림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0040112" y="285292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동기화 후 자동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이상 감지·발송</a:t>
            </a:r>
            <a:endParaRPr lang="en-US" sz="1200" dirty="0"/>
          </a:p>
        </p:txBody>
      </p:sp>
      <p:sp>
        <p:nvSpPr>
          <p:cNvPr id="39" name="LIMS demo"/>
          <p:cNvSpPr/>
          <p:nvPr/>
        </p:nvSpPr>
        <p:spPr>
          <a:xfrm>
            <a:off x="548640" y="402336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77724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데모 검증(시연용 LIMS DB)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777240" y="4553712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시료 379건 · 결과 3,422건 조회 → 3,350건 반영(원본과 오차 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승인 대기 62건 자동 제외 · 미등록 시험코드 10건 보고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재실행 시 새 결과만 조회(증분) — 중복 반영 없음</a:t>
            </a:r>
            <a:endParaRPr lang="en-US" sz="1400" dirty="0"/>
          </a:p>
        </p:txBody>
      </p:sp>
      <p:sp>
        <p:nvSpPr>
          <p:cNvPr id="42" name="LIMS security"/>
          <p:cNvSpPr/>
          <p:nvPr/>
        </p:nvSpPr>
        <p:spPr>
          <a:xfrm>
            <a:off x="6172200" y="402336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Security circle"/>
          <p:cNvSpPr/>
          <p:nvPr/>
        </p:nvSpPr>
        <p:spPr>
          <a:xfrm>
            <a:off x="6373368" y="4187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4" name="Security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069" y="4308653"/>
            <a:ext cx="261518" cy="261518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995160" y="426110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보안·확인 필요 사항</a:t>
            </a:r>
            <a:endParaRPr lang="en-US" sz="1600" dirty="0"/>
          </a:p>
        </p:txBody>
      </p:sp>
      <p:sp>
        <p:nvSpPr>
          <p:cNvPr id="46" name="Text 37"/>
          <p:cNvSpPr txBox="1"/>
          <p:nvPr/>
        </p:nvSpPr>
        <p:spPr>
          <a:xfrm>
            <a:off x="6400800" y="47548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읽기 전용 DB 계정·결과 뷰만 사용, 비밀번호는 서버 환경변수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확인 필요: 당사 LIMS 제품·DB 종류, 접근 방식(DB/API/파일)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시험코드표·승인 상태값·품종 코드 목록</a:t>
            </a:r>
            <a:endParaRPr lang="en-US" sz="1400" dirty="0"/>
          </a:p>
        </p:txBody>
      </p:sp>
      <p:sp>
        <p:nvSpPr>
          <p:cNvPr id="47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 무인 운영: qms_monitor.py --sync-lims 를 10~30분 주기로 실행(작업 스케줄러)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AI 솔루션 보고서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숫자는 시스템이 계산하고, AI는 그 근거 안에서만 해설·조치 계획을 씁니다</a:t>
            </a:r>
            <a:endParaRPr lang="en-US" sz="1700" dirty="0"/>
          </a:p>
        </p:txBody>
      </p:sp>
      <p:sp>
        <p:nvSpPr>
          <p:cNvPr id="4" name="AI flow 1"/>
          <p:cNvSpPr/>
          <p:nvPr/>
        </p:nvSpPr>
        <p:spPr>
          <a:xfrm>
            <a:off x="548640" y="1691640"/>
            <a:ext cx="2514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I flow 1 circle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AI flow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계산 엔진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배합·강도·6가크롬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예측·최적화 수치</a:t>
            </a:r>
            <a:endParaRPr lang="en-US" sz="1300" dirty="0"/>
          </a:p>
        </p:txBody>
      </p:sp>
      <p:sp>
        <p:nvSpPr>
          <p:cNvPr id="9" name="AI arrow 1"/>
          <p:cNvSpPr/>
          <p:nvPr/>
        </p:nvSpPr>
        <p:spPr>
          <a:xfrm>
            <a:off x="3108960" y="2514600"/>
            <a:ext cx="256032" cy="292608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AI flow 2"/>
          <p:cNvSpPr/>
          <p:nvPr/>
        </p:nvSpPr>
        <p:spPr>
          <a:xfrm>
            <a:off x="3410712" y="1691640"/>
            <a:ext cx="2514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AI flow 2 circle"/>
          <p:cNvSpPr/>
          <p:nvPr/>
        </p:nvSpPr>
        <p:spPr>
          <a:xfrm>
            <a:off x="3639312" y="1874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AI flow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986" y="20061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25112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지식베이스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2606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조치·부작용·확인 방법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KS·협약 기준</a:t>
            </a:r>
            <a:endParaRPr lang="en-US" sz="1300" dirty="0"/>
          </a:p>
        </p:txBody>
      </p:sp>
      <p:sp>
        <p:nvSpPr>
          <p:cNvPr id="15" name="AI arrow 2"/>
          <p:cNvSpPr/>
          <p:nvPr/>
        </p:nvSpPr>
        <p:spPr>
          <a:xfrm>
            <a:off x="5971032" y="2514600"/>
            <a:ext cx="256032" cy="292608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AI flow 3"/>
          <p:cNvSpPr/>
          <p:nvPr/>
        </p:nvSpPr>
        <p:spPr>
          <a:xfrm>
            <a:off x="6272784" y="169164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17" name="AI flow 3 circle"/>
          <p:cNvSpPr/>
          <p:nvPr/>
        </p:nvSpPr>
        <p:spPr>
          <a:xfrm>
            <a:off x="6501384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AI flow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058" y="200619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87184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AI(Claude)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1384" y="2606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근거 범위 내 해설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새 수치 생성 금지</a:t>
            </a:r>
            <a:endParaRPr lang="en-US" sz="1300" dirty="0"/>
          </a:p>
        </p:txBody>
      </p:sp>
      <p:sp>
        <p:nvSpPr>
          <p:cNvPr id="21" name="AI arrow 3"/>
          <p:cNvSpPr/>
          <p:nvPr/>
        </p:nvSpPr>
        <p:spPr>
          <a:xfrm>
            <a:off x="8833104" y="2514600"/>
            <a:ext cx="256032" cy="292608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AI flow 4"/>
          <p:cNvSpPr/>
          <p:nvPr/>
        </p:nvSpPr>
        <p:spPr>
          <a:xfrm>
            <a:off x="9134856" y="1691640"/>
            <a:ext cx="2514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AI flow 4 circle"/>
          <p:cNvSpPr/>
          <p:nvPr/>
        </p:nvSpPr>
        <p:spPr>
          <a:xfrm>
            <a:off x="9363456" y="1874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AI flow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130" y="200619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049256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보고서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363456" y="2606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결론→원인 5축→조치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[사실]/[추정] 표기</a:t>
            </a:r>
            <a:endParaRPr lang="en-US" sz="1300" dirty="0"/>
          </a:p>
        </p:txBody>
      </p:sp>
      <p:sp>
        <p:nvSpPr>
          <p:cNvPr id="27" name="AI guardrails"/>
          <p:cNvSpPr/>
          <p:nvPr/>
        </p:nvSpPr>
        <p:spPr>
          <a:xfrm>
            <a:off x="548640" y="3840480"/>
            <a:ext cx="6035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77240" y="39776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안전장치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777240" y="4370832"/>
            <a:ext cx="5623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원 데이터 DB·개인정보 미전송 — 전송 내용(JSON)을 화면에서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응답 거부·오류 시 규칙 기반 솔루션 유지(AI 없이도 전 기능 동작)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호출 기록(모델·토큰·비용·입력 해시) 보관 — 감사 추적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외부 API 사용이므로 사내 정보보안 승인 후 사용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3840480"/>
          <a:ext cx="48006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모델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1회 비용(추정)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Claude Opus 5.5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약 130원 ($0.093)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Claude Sonnet 5.5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약 66원 ($0.047)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Claude Haiku 5.5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약 3원 ($0.002)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4"/>
          <p:cNvSpPr txBox="1"/>
          <p:nvPr/>
        </p:nvSpPr>
        <p:spPr>
          <a:xfrm>
            <a:off x="6812280" y="56235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기본 모델 Opus 5.5 기준 월 100회 약 1.3만 원(추정). 지식베이스는 캐시로 반복 비용 절감</a:t>
            </a:r>
            <a:endParaRPr lang="en-US" sz="1200" dirty="0"/>
          </a:p>
        </p:txBody>
      </p:sp>
      <p:sp>
        <p:nvSpPr>
          <p:cNvPr id="32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 비용 = 입력 약 9천(지식베이스 6천 캐시)·출력 약 4천 토큰 가정, 환율 1,400원/$ — 추정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검증 결과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데모 데이터에 넣은 '정답'을 시스템이 그대로 찾아냈습니다 — 실데이터 검증이 다음 과제입니다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2237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00200"/>
                <a:gridCol w="178308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검증 항목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데모 정답(생성값)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시스템 추정값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판정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f-CaO 소성성 회귀: LSF 계수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0.33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일치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XRD 알라이트 − Bogue C₃S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+6.5%p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+6.5%p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일치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석탄회 흡수(kg/kg-클링커)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0.0150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0.0151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일치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킬른 Cr⁶⁺ 전환율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12.0%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12.1%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일치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환원제 실효 제거량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3.0 mg/kg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3.0 mg/kg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일치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S7 6가크롬 원인(1순위)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원료 Cr 증가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일치(데이터 지지)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일치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28일 강도 예측 오차(1종, LOO)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1.08 MPa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양호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Limits card"/>
          <p:cNvSpPr/>
          <p:nvPr/>
        </p:nvSpPr>
        <p:spPr>
          <a:xfrm>
            <a:off x="8046720" y="1691640"/>
            <a:ext cx="3566160" cy="44805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imits circle"/>
          <p:cNvSpPr/>
          <p:nvPr/>
        </p:nvSpPr>
        <p:spPr>
          <a:xfrm>
            <a:off x="8275320" y="1874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Limit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699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961120" y="1984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한계와 주의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75320" y="260604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가상 데이터 검증 — 실제 공정 관계는 다를 수 있음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원료·연료 Cr, 전환율, 환원제 계수 기본값은 예시(추정)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강도 경험칙 계수는 실데이터로 재학습 필요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국내 6가크롬 기준은 협약 원문·현행 여부 확인 필요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Blue365 QMS 자동 검증(데모 120일, 시드 7) · 자동 테스트 90건 통과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추진 계획과 요청 사항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LIMS 연결과 3개월 실데이터 시범으로 공장 맞춤 보정을 마치겠습니다</a:t>
            </a:r>
            <a:endParaRPr lang="en-US" sz="1700" dirty="0"/>
          </a:p>
        </p:txBody>
      </p:sp>
      <p:sp>
        <p:nvSpPr>
          <p:cNvPr id="4" name="Timeline 1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1개월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연결·준비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LIMS 연결·코드 매핑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원료·연료 Cr 분석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XRD 데이터 확보</a:t>
            </a:r>
            <a:endParaRPr lang="en-US" sz="1300" dirty="0"/>
          </a:p>
        </p:txBody>
      </p:sp>
      <p:sp>
        <p:nvSpPr>
          <p:cNvPr id="8" name="Timeline arrow 1"/>
          <p:cNvSpPr/>
          <p:nvPr/>
        </p:nvSpPr>
        <p:spPr>
          <a:xfrm>
            <a:off x="4142232" y="2514600"/>
            <a:ext cx="137160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imeline 2"/>
          <p:cNvSpPr/>
          <p:nvPr/>
        </p:nvSpPr>
        <p:spPr>
          <a:xfrm>
            <a:off x="429768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2~3개월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212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실데이터 보정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강도 모델 재학습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전환율·환원제 계수 보정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 시범 사용(승인 시)</a:t>
            </a:r>
            <a:endParaRPr lang="en-US" sz="1300" dirty="0"/>
          </a:p>
        </p:txBody>
      </p:sp>
      <p:sp>
        <p:nvSpPr>
          <p:cNvPr id="13" name="Timeline arrow 2"/>
          <p:cNvSpPr/>
          <p:nvPr/>
        </p:nvSpPr>
        <p:spPr>
          <a:xfrm>
            <a:off x="7891272" y="2514600"/>
            <a:ext cx="137160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imeline 3"/>
          <p:cNvSpPr/>
          <p:nvPr/>
        </p:nvSpPr>
        <p:spPr>
          <a:xfrm>
            <a:off x="804672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3개월 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212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효과 보고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예측 정확도·조치 효과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원가·6가크롬 관리 성과</a:t>
            </a:r>
            <a:endParaRPr lang="en-US" sz="1300" dirty="0"/>
          </a:p>
        </p:txBody>
      </p:sp>
      <p:sp>
        <p:nvSpPr>
          <p:cNvPr id="18" name="Ask 1"/>
          <p:cNvSpPr/>
          <p:nvPr/>
        </p:nvSpPr>
        <p:spPr>
          <a:xfrm>
            <a:off x="548640" y="388620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sk 1 circle"/>
          <p:cNvSpPr/>
          <p:nvPr/>
        </p:nvSpPr>
        <p:spPr>
          <a:xfrm>
            <a:off x="777240" y="40690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Ask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4205143"/>
            <a:ext cx="294803" cy="294803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508760" y="4178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① LIMS 접근 협조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800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읽기 전용 DB 계정 또는 API 접근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시험코드표·승인 상태값 제공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담당: IT·LIMS 운영</a:t>
            </a:r>
            <a:endParaRPr lang="en-US" sz="1300" dirty="0"/>
          </a:p>
        </p:txBody>
      </p:sp>
      <p:sp>
        <p:nvSpPr>
          <p:cNvPr id="23" name="Ask 2"/>
          <p:cNvSpPr/>
          <p:nvPr/>
        </p:nvSpPr>
        <p:spPr>
          <a:xfrm>
            <a:off x="4297680" y="388620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Ask 2 circle"/>
          <p:cNvSpPr/>
          <p:nvPr/>
        </p:nvSpPr>
        <p:spPr>
          <a:xfrm>
            <a:off x="4526280" y="40690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Ask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343" y="4205143"/>
            <a:ext cx="294803" cy="294803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257800" y="4178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② 분석 데이터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4526280" y="4800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원료·연료·내화물 총 크롬(월 1회↑)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클링커 XRD·Cr⁶⁺(일 1회)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담당: 품질(시험실)</a:t>
            </a:r>
            <a:endParaRPr lang="en-US" sz="1300" dirty="0"/>
          </a:p>
        </p:txBody>
      </p:sp>
      <p:sp>
        <p:nvSpPr>
          <p:cNvPr id="28" name="Ask 3"/>
          <p:cNvSpPr/>
          <p:nvPr/>
        </p:nvSpPr>
        <p:spPr>
          <a:xfrm>
            <a:off x="8046720" y="388620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Ask 3 circle"/>
          <p:cNvSpPr/>
          <p:nvPr/>
        </p:nvSpPr>
        <p:spPr>
          <a:xfrm>
            <a:off x="8275320" y="40690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Ask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383" y="4205143"/>
            <a:ext cx="294803" cy="294803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178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③ AI 보안 승인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8275320" y="4800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외부 API 전송 범위 승인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예산: 월 약 1.3만 원(추정, 100회)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담당: 정보보안·품질</a:t>
            </a:r>
            <a:endParaRPr lang="en-US" sz="1300" dirty="0"/>
          </a:p>
        </p:txBody>
      </p:sp>
      <p:sp>
        <p:nvSpPr>
          <p:cNvPr id="33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첨부: 배합 설계서·6가크롬 평가표 샘플(엑셀) · 관리항목·기준 정의서(엑셀) · 시스템 소스(Blue365 저장소)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365 QMS">
  <a:themeElements>
    <a:clrScheme name="Blue365 QMS">
      <a:dk1>
        <a:srgbClr val="1F2A30"/>
      </a:dk1>
      <a:lt1>
        <a:srgbClr val="FFFFFF"/>
      </a:lt1>
      <a:dk2>
        <a:srgbClr val="5F6B73"/>
      </a:dk2>
      <a:lt2>
        <a:srgbClr val="F1F3F4"/>
      </a:lt2>
      <a:accent1>
        <a:srgbClr val="C2410C"/>
      </a:accent1>
      <a:accent2>
        <a:srgbClr val="2A78D6"/>
      </a:accent2>
      <a:accent3>
        <a:srgbClr val="0CA30C"/>
      </a:accent3>
      <a:accent4>
        <a:srgbClr val="EC835A"/>
      </a:accent4>
      <a:accent5>
        <a:srgbClr val="FAB219"/>
      </a:accent5>
      <a:accent6>
        <a:srgbClr val="D03B3B"/>
      </a:accent6>
      <a:hlink>
        <a:srgbClr val="2A78D6"/>
      </a:hlink>
      <a:folHlink>
        <a:srgbClr val="4A3AA7"/>
      </a:folHlink>
    </a:clrScheme>
    <a:fontScheme name="Blue365 QMS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QMS 2단계 기능 확장 보고</dc:title>
  <dc:subject>원료 배합 설계 · 재령별 강도 예측 · 6가크롬 · LIMS 연동 · AI 솔루션</dc:subject>
  <dc:creator>품질관리팀</dc:creator>
  <cp:lastModifiedBy>품질관리팀</cp:lastModifiedBy>
  <cp:revision>1</cp:revision>
  <dcterms:created xsi:type="dcterms:W3CDTF">2026-10-08T05:31:10Z</dcterms:created>
  <dcterms:modified xsi:type="dcterms:W3CDTF">2026-10-08T05:31:10Z</dcterms:modified>
</cp:coreProperties>
</file>