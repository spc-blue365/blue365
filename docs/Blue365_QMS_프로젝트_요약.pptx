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프로젝트 요약" id="{a9976ad1-7d20-d375-266d-5fc67f35c35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목표: LIMS 시험 결과를 매일 자동으로 모아 원료부터 출하까지 품질 이상을 조기에 감지하고 보고를 자동화합니다.
2) 방식: LIMS DB 직접 연동은 계정 권한 문제로 불가해, LIMS 내보내기 엑셀을 매일 06:00 자동 반영하는 방식으로 구축했습니다.
3) 현재: 시스템 구축 완료, 시범 운영 준비 단계. 보내주신 LIMS 원본 10종 인식을 검증했습니다(공정 7종 오류 0건).
4) 요청: 사내 관리기준 실제값 확정, 고로슬래그 2종 KS 기준 확인, 가능하면 LIMS DB 읽기 전용 계정 발급.
※ 기대 효과의 정량 수치는 시범 운영 후 측정해 보고합니다.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961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896112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457200" y="619963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근거: 보내주신 LIMS 원본 10종으로 자동 인식 검증(공정 7종 오류 0건) · 판정 기준 KS L 5201 · 기대 효과는 추정이며 정량 효과는 시범 운영 후 측정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9811512" y="6199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Blue365 QMS · 품질관리팀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4747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LIMS 데이터 기반 시멘트 품질 통합 모니터링 시스템 구축</a:t>
            </a:r>
            <a:endParaRPr lang="en-US" sz="25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원료부터 출하까지 — 이상 조기 감지 · 자동 판정 · 자동 보고</a:t>
            </a:r>
            <a:endParaRPr lang="en-US" sz="1500" dirty="0"/>
          </a:p>
        </p:txBody>
      </p:sp>
      <p:sp>
        <p:nvSpPr>
          <p:cNvPr id="4" name="status-pill"/>
          <p:cNvSpPr/>
          <p:nvPr/>
        </p:nvSpPr>
        <p:spPr>
          <a:xfrm>
            <a:off x="9537192" y="45720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tatus-text"/>
          <p:cNvSpPr txBox="1"/>
          <p:nvPr/>
        </p:nvSpPr>
        <p:spPr>
          <a:xfrm>
            <a:off x="9537192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구축 완료 · 시범 운영 준비</a:t>
            </a:r>
            <a:endParaRPr lang="en-US" sz="1300" dirty="0"/>
          </a:p>
        </p:txBody>
      </p:sp>
      <p:sp>
        <p:nvSpPr>
          <p:cNvPr id="6" name="flow-1"/>
          <p:cNvSpPr/>
          <p:nvPr/>
        </p:nvSpPr>
        <p:spPr>
          <a:xfrm>
            <a:off x="457200" y="1444752"/>
            <a:ext cx="2579294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low-1-circle"/>
          <p:cNvSpPr/>
          <p:nvPr/>
        </p:nvSpPr>
        <p:spPr>
          <a:xfrm>
            <a:off x="621792" y="1700784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flow-1-icon" descr="LIMS 엑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256032" cy="256032"/>
          </a:xfrm>
          <a:prstGeom prst="rect">
            <a:avLst/>
          </a:prstGeom>
        </p:spPr>
      </p:pic>
      <p:sp>
        <p:nvSpPr>
          <p:cNvPr id="9" name="flow-1-text"/>
          <p:cNvSpPr txBox="1"/>
          <p:nvPr/>
        </p:nvSpPr>
        <p:spPr>
          <a:xfrm>
            <a:off x="1243584" y="1554480"/>
            <a:ext cx="168318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1. LIMS 엑셀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공정 7종·인수검사 3종</a:t>
            </a:r>
            <a:endParaRPr lang="en-US" sz="1400" dirty="0"/>
          </a:p>
        </p:txBody>
      </p:sp>
      <p:sp>
        <p:nvSpPr>
          <p:cNvPr id="10" name="flow-arrow-1"/>
          <p:cNvSpPr/>
          <p:nvPr/>
        </p:nvSpPr>
        <p:spPr>
          <a:xfrm>
            <a:off x="3155366" y="1810512"/>
            <a:ext cx="173736" cy="292608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flow-2"/>
          <p:cNvSpPr/>
          <p:nvPr/>
        </p:nvSpPr>
        <p:spPr>
          <a:xfrm>
            <a:off x="3356534" y="1444752"/>
            <a:ext cx="2579294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2-circle"/>
          <p:cNvSpPr/>
          <p:nvPr/>
        </p:nvSpPr>
        <p:spPr>
          <a:xfrm>
            <a:off x="3521126" y="1700784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flow-2-icon" descr="매일 06:00 반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142" y="1828800"/>
            <a:ext cx="256032" cy="256032"/>
          </a:xfrm>
          <a:prstGeom prst="rect">
            <a:avLst/>
          </a:prstGeom>
        </p:spPr>
      </p:pic>
      <p:sp>
        <p:nvSpPr>
          <p:cNvPr id="14" name="flow-2-text"/>
          <p:cNvSpPr txBox="1"/>
          <p:nvPr/>
        </p:nvSpPr>
        <p:spPr>
          <a:xfrm>
            <a:off x="4142918" y="1554480"/>
            <a:ext cx="168318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 매일 06:00 반영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원본 그대로 자동 인식</a:t>
            </a:r>
            <a:endParaRPr lang="en-US" sz="1400" dirty="0"/>
          </a:p>
        </p:txBody>
      </p:sp>
      <p:sp>
        <p:nvSpPr>
          <p:cNvPr id="15" name="flow-arrow-2"/>
          <p:cNvSpPr/>
          <p:nvPr/>
        </p:nvSpPr>
        <p:spPr>
          <a:xfrm>
            <a:off x="6054700" y="1810512"/>
            <a:ext cx="173736" cy="292608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flow-3"/>
          <p:cNvSpPr/>
          <p:nvPr/>
        </p:nvSpPr>
        <p:spPr>
          <a:xfrm>
            <a:off x="6255868" y="1444752"/>
            <a:ext cx="2579294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low-3-circle"/>
          <p:cNvSpPr/>
          <p:nvPr/>
        </p:nvSpPr>
        <p:spPr>
          <a:xfrm>
            <a:off x="6420460" y="1700784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flow-3-icon" descr="자동 분석·판정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476" y="1828800"/>
            <a:ext cx="256032" cy="256032"/>
          </a:xfrm>
          <a:prstGeom prst="rect">
            <a:avLst/>
          </a:prstGeom>
        </p:spPr>
      </p:pic>
      <p:sp>
        <p:nvSpPr>
          <p:cNvPr id="19" name="flow-3-text"/>
          <p:cNvSpPr txBox="1"/>
          <p:nvPr/>
        </p:nvSpPr>
        <p:spPr>
          <a:xfrm>
            <a:off x="7042252" y="1554480"/>
            <a:ext cx="168318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3. 자동 분석·판정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KS·사내기준·SPC</a:t>
            </a:r>
            <a:endParaRPr lang="en-US" sz="1400" dirty="0"/>
          </a:p>
        </p:txBody>
      </p:sp>
      <p:sp>
        <p:nvSpPr>
          <p:cNvPr id="20" name="flow-arrow-3"/>
          <p:cNvSpPr/>
          <p:nvPr/>
        </p:nvSpPr>
        <p:spPr>
          <a:xfrm>
            <a:off x="8954033" y="1810512"/>
            <a:ext cx="173736" cy="292608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flow-4"/>
          <p:cNvSpPr/>
          <p:nvPr/>
        </p:nvSpPr>
        <p:spPr>
          <a:xfrm>
            <a:off x="9155201" y="1444752"/>
            <a:ext cx="2579294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flow-4-circle"/>
          <p:cNvSpPr/>
          <p:nvPr/>
        </p:nvSpPr>
        <p:spPr>
          <a:xfrm>
            <a:off x="9319793" y="1700784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flow-4-icon" descr="현황판·보고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809" y="1828800"/>
            <a:ext cx="256032" cy="256032"/>
          </a:xfrm>
          <a:prstGeom prst="rect">
            <a:avLst/>
          </a:prstGeom>
        </p:spPr>
      </p:pic>
      <p:sp>
        <p:nvSpPr>
          <p:cNvPr id="24" name="flow-4-text"/>
          <p:cNvSpPr txBox="1"/>
          <p:nvPr/>
        </p:nvSpPr>
        <p:spPr>
          <a:xfrm>
            <a:off x="9941585" y="1554480"/>
            <a:ext cx="168318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4. 현황판·보고서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HTML·PPT·엑셀</a:t>
            </a:r>
            <a:endParaRPr lang="en-US" sz="1400" dirty="0"/>
          </a:p>
        </p:txBody>
      </p:sp>
      <p:sp>
        <p:nvSpPr>
          <p:cNvPr id="25" name="card-1"/>
          <p:cNvSpPr/>
          <p:nvPr/>
        </p:nvSpPr>
        <p:spPr>
          <a:xfrm>
            <a:off x="457200" y="2697480"/>
            <a:ext cx="357621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2000"/>
              </a:srgbClr>
            </a:outerShdw>
          </a:effectLst>
        </p:spPr>
      </p:sp>
      <p:sp>
        <p:nvSpPr>
          <p:cNvPr id="26" name="card-1-circle"/>
          <p:cNvSpPr/>
          <p:nvPr/>
        </p:nvSpPr>
        <p:spPr>
          <a:xfrm>
            <a:off x="685800" y="289864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card-1-icon" descr="현재 문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008376"/>
            <a:ext cx="237744" cy="237744"/>
          </a:xfrm>
          <a:prstGeom prst="rect">
            <a:avLst/>
          </a:prstGeom>
        </p:spPr>
      </p:pic>
      <p:sp>
        <p:nvSpPr>
          <p:cNvPr id="28" name="card-1-head"/>
          <p:cNvSpPr txBox="1"/>
          <p:nvPr/>
        </p:nvSpPr>
        <p:spPr>
          <a:xfrm>
            <a:off x="1261872" y="2898648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현재 문제</a:t>
            </a:r>
            <a:endParaRPr lang="en-US" sz="1800" dirty="0"/>
          </a:p>
        </p:txBody>
      </p:sp>
      <p:sp>
        <p:nvSpPr>
          <p:cNvPr id="29" name="card-1-body"/>
          <p:cNvSpPr txBox="1"/>
          <p:nvPr/>
        </p:nvSpPr>
        <p:spPr>
          <a:xfrm>
            <a:off x="685800" y="3502152"/>
            <a:ext cx="3164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공정별 LIMS 결과 수작업 취합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규격·사내기준 이탈을 사후에 인지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보고 자료를 매번 수작업 작성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LIMS DB 직접 연동 불가(권한)</a:t>
            </a:r>
            <a:endParaRPr lang="en-US" sz="1400" dirty="0"/>
          </a:p>
        </p:txBody>
      </p:sp>
      <p:sp>
        <p:nvSpPr>
          <p:cNvPr id="30" name="card-2"/>
          <p:cNvSpPr/>
          <p:nvPr/>
        </p:nvSpPr>
        <p:spPr>
          <a:xfrm>
            <a:off x="4307738" y="2697480"/>
            <a:ext cx="357621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2000"/>
              </a:srgbClr>
            </a:outerShdw>
          </a:effectLst>
        </p:spPr>
      </p:sp>
      <p:sp>
        <p:nvSpPr>
          <p:cNvPr id="31" name="card-2-circle"/>
          <p:cNvSpPr/>
          <p:nvPr/>
        </p:nvSpPr>
        <p:spPr>
          <a:xfrm>
            <a:off x="4536338" y="289864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2" name="card-2-icon" descr="주요 기능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066" y="3008376"/>
            <a:ext cx="237744" cy="237744"/>
          </a:xfrm>
          <a:prstGeom prst="rect">
            <a:avLst/>
          </a:prstGeom>
        </p:spPr>
      </p:pic>
      <p:sp>
        <p:nvSpPr>
          <p:cNvPr id="33" name="card-2-head"/>
          <p:cNvSpPr txBox="1"/>
          <p:nvPr/>
        </p:nvSpPr>
        <p:spPr>
          <a:xfrm>
            <a:off x="5112410" y="2898648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주요 기능</a:t>
            </a:r>
            <a:endParaRPr lang="en-US" sz="1800" dirty="0"/>
          </a:p>
        </p:txBody>
      </p:sp>
      <p:sp>
        <p:nvSpPr>
          <p:cNvPr id="34" name="card-2-body"/>
          <p:cNvSpPr txBox="1"/>
          <p:nvPr/>
        </p:nvSpPr>
        <p:spPr>
          <a:xfrm>
            <a:off x="4536338" y="3502152"/>
            <a:ext cx="3164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원료~출하 공정 모니터링 · SPC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출하 품종별(1·3종·고로 2종) 판정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원인 진단 · 28일 강도 조기 예측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인수검사 사내기준 자동 합부판정</a:t>
            </a:r>
            <a:endParaRPr lang="en-US" sz="1400" dirty="0"/>
          </a:p>
        </p:txBody>
      </p:sp>
      <p:sp>
        <p:nvSpPr>
          <p:cNvPr id="35" name="card-3"/>
          <p:cNvSpPr/>
          <p:nvPr/>
        </p:nvSpPr>
        <p:spPr>
          <a:xfrm>
            <a:off x="8158277" y="2697480"/>
            <a:ext cx="357621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2000"/>
              </a:srgbClr>
            </a:outerShdw>
          </a:effectLst>
        </p:spPr>
      </p:sp>
      <p:sp>
        <p:nvSpPr>
          <p:cNvPr id="36" name="card-3-circle"/>
          <p:cNvSpPr/>
          <p:nvPr/>
        </p:nvSpPr>
        <p:spPr>
          <a:xfrm>
            <a:off x="8386877" y="289864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7" name="card-3-icon" descr="기대 효과 (추정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605" y="3008376"/>
            <a:ext cx="237744" cy="237744"/>
          </a:xfrm>
          <a:prstGeom prst="rect">
            <a:avLst/>
          </a:prstGeom>
        </p:spPr>
      </p:pic>
      <p:sp>
        <p:nvSpPr>
          <p:cNvPr id="38" name="card-3-head"/>
          <p:cNvSpPr txBox="1"/>
          <p:nvPr/>
        </p:nvSpPr>
        <p:spPr>
          <a:xfrm>
            <a:off x="8962949" y="2898648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기대 효과 (추정)</a:t>
            </a:r>
            <a:endParaRPr lang="en-US" sz="1800" dirty="0"/>
          </a:p>
        </p:txBody>
      </p:sp>
      <p:sp>
        <p:nvSpPr>
          <p:cNvPr id="39" name="card-3-body"/>
          <p:cNvSpPr txBox="1"/>
          <p:nvPr/>
        </p:nvSpPr>
        <p:spPr>
          <a:xfrm>
            <a:off x="8386877" y="3502152"/>
            <a:ext cx="3164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결과 취합 수작업 → 매일 자동 반영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이상 징후 조기 감지 · 선제 조치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설치 없이 HTML로 현황 공유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보고 · 회의 자료 자동 생성</a:t>
            </a:r>
            <a:endParaRPr lang="en-US" sz="1400" dirty="0"/>
          </a:p>
        </p:txBody>
      </p:sp>
      <p:sp>
        <p:nvSpPr>
          <p:cNvPr id="40" name="next-box"/>
          <p:cNvSpPr/>
          <p:nvPr/>
        </p:nvSpPr>
        <p:spPr>
          <a:xfrm>
            <a:off x="457200" y="5257800"/>
            <a:ext cx="1127729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next-label"/>
          <p:cNvSpPr txBox="1"/>
          <p:nvPr/>
        </p:nvSpPr>
        <p:spPr>
          <a:xfrm>
            <a:off x="685800" y="52578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향후 과제</a:t>
            </a:r>
            <a:endParaRPr lang="en-US" sz="1600" dirty="0"/>
          </a:p>
        </p:txBody>
      </p:sp>
      <p:sp>
        <p:nvSpPr>
          <p:cNvPr id="42" name="next-1-num"/>
          <p:cNvSpPr/>
          <p:nvPr/>
        </p:nvSpPr>
        <p:spPr>
          <a:xfrm>
            <a:off x="1965960" y="5449824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3" name="next-1-numtext"/>
          <p:cNvSpPr txBox="1"/>
          <p:nvPr/>
        </p:nvSpPr>
        <p:spPr>
          <a:xfrm>
            <a:off x="1965960" y="5449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44" name="next-1-text"/>
          <p:cNvSpPr txBox="1"/>
          <p:nvPr/>
        </p:nvSpPr>
        <p:spPr>
          <a:xfrm>
            <a:off x="2423160" y="5257800"/>
            <a:ext cx="2631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사내 관리기준 실제값 입력</a:t>
            </a:r>
            <a:endParaRPr lang="en-US" sz="1400" dirty="0"/>
          </a:p>
        </p:txBody>
      </p:sp>
      <p:sp>
        <p:nvSpPr>
          <p:cNvPr id="45" name="next-2-num"/>
          <p:cNvSpPr/>
          <p:nvPr/>
        </p:nvSpPr>
        <p:spPr>
          <a:xfrm>
            <a:off x="5145938" y="5449824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next-2-numtext"/>
          <p:cNvSpPr txBox="1"/>
          <p:nvPr/>
        </p:nvSpPr>
        <p:spPr>
          <a:xfrm>
            <a:off x="5145938" y="5449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47" name="next-2-text"/>
          <p:cNvSpPr txBox="1"/>
          <p:nvPr/>
        </p:nvSpPr>
        <p:spPr>
          <a:xfrm>
            <a:off x="5603138" y="5257800"/>
            <a:ext cx="2631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고로슬래그 2종 KS 기준 확인</a:t>
            </a:r>
            <a:endParaRPr lang="en-US" sz="1400" dirty="0"/>
          </a:p>
        </p:txBody>
      </p:sp>
      <p:sp>
        <p:nvSpPr>
          <p:cNvPr id="48" name="next-3-num"/>
          <p:cNvSpPr/>
          <p:nvPr/>
        </p:nvSpPr>
        <p:spPr>
          <a:xfrm>
            <a:off x="8325917" y="5449824"/>
            <a:ext cx="347472" cy="34747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9" name="next-3-numtext"/>
          <p:cNvSpPr txBox="1"/>
          <p:nvPr/>
        </p:nvSpPr>
        <p:spPr>
          <a:xfrm>
            <a:off x="8325917" y="5449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50" name="next-3-text"/>
          <p:cNvSpPr txBox="1"/>
          <p:nvPr/>
        </p:nvSpPr>
        <p:spPr>
          <a:xfrm>
            <a:off x="8783117" y="5257800"/>
            <a:ext cx="2631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 계정 확보 시 실시간 연동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365 QMS">
  <a:themeElements>
    <a:clrScheme name="Blue365 QMS">
      <a:dk1>
        <a:srgbClr val="1C2430"/>
      </a:dk1>
      <a:lt1>
        <a:srgbClr val="FFFFFF"/>
      </a:lt1>
      <a:dk2>
        <a:srgbClr val="1F3A5F"/>
      </a:dk2>
      <a:lt2>
        <a:srgbClr val="EEF2F8"/>
      </a:lt2>
      <a:accent1>
        <a:srgbClr val="1F3A5F"/>
      </a:accent1>
      <a:accent2>
        <a:srgbClr val="2E6F95"/>
      </a:accent2>
      <a:accent3>
        <a:srgbClr val="D9731A"/>
      </a:accent3>
      <a:accent4>
        <a:srgbClr val="2E8B57"/>
      </a:accent4>
      <a:accent5>
        <a:srgbClr val="6B7686"/>
      </a:accent5>
      <a:accent6>
        <a:srgbClr val="C9D6E8"/>
      </a:accent6>
      <a:hlink>
        <a:srgbClr val="1F3A5F"/>
      </a:hlink>
      <a:folHlink>
        <a:srgbClr val="6B7686"/>
      </a:folHlink>
    </a:clrScheme>
    <a:fontScheme name="Blue365 QMS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LIMS 데이터 기반 시멘트 품질 통합 모니터링 시스템 구축</dc:title>
  <dc:subject>PptxGenJS Presentation</dc:subject>
  <dc:creator>품질관리팀</dc:creator>
  <cp:lastModifiedBy>품질관리팀</cp:lastModifiedBy>
  <cp:revision>1</cp:revision>
  <dcterms:created xsi:type="dcterms:W3CDTF">2026-10-27T02:16:48Z</dcterms:created>
  <dcterms:modified xsi:type="dcterms:W3CDTF">2026-10-27T02:16:48Z</dcterms:modified>
</cp:coreProperties>
</file>