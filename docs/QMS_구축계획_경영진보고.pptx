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5620903-6ef7-db16-f617-c5e5a9bbdb87}">
          <p14:sldIdLst>
            <p14:sldId id="256"/>
            <p14:sldId id="257"/>
            <p14:sldId id="258"/>
          </p14:sldIdLst>
        </p14:section>
        <p14:section name="시스템" id="{210d619a-1aef-5d05-e5fe-10aad12b9a1e}">
          <p14:sldIdLst>
            <p14:sldId id="259"/>
            <p14:sldId id="260"/>
            <p14:sldId id="261"/>
            <p14:sldId id="262"/>
            <p14:sldId id="263"/>
          </p14:sldIdLst>
        </p14:section>
        <p14:section name="검증" id="{b1425315-a2fe-4ab6-5daa-023855574d7e}">
          <p14:sldIdLst>
            <p14:sldId id="264"/>
            <p14:sldId id="265"/>
          </p14:sldIdLst>
        </p14:section>
        <p14:section name="추진 계획" id="{31d346f1-ad55-f197-2600-319b8c8deb81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28일 실측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Sheet1!$A$2:$A$44</c:f>
              <c:multiLvlStrCache>
                <c:ptCount val="43"/>
                <c:lvl>
                  <c:pt idx="0">
                    <c:v>08/20</c:v>
                  </c:pt>
                  <c:pt idx="1">
                    <c:v>08/21</c:v>
                  </c:pt>
                  <c:pt idx="2">
                    <c:v>08/22</c:v>
                  </c:pt>
                  <c:pt idx="3">
                    <c:v>08/23</c:v>
                  </c:pt>
                  <c:pt idx="4">
                    <c:v>08/24</c:v>
                  </c:pt>
                  <c:pt idx="5">
                    <c:v>08/25</c:v>
                  </c:pt>
                  <c:pt idx="6">
                    <c:v>08/26</c:v>
                  </c:pt>
                  <c:pt idx="7">
                    <c:v>08/27</c:v>
                  </c:pt>
                  <c:pt idx="8">
                    <c:v>08/28</c:v>
                  </c:pt>
                  <c:pt idx="9">
                    <c:v>08/29</c:v>
                  </c:pt>
                  <c:pt idx="10">
                    <c:v>08/30</c:v>
                  </c:pt>
                  <c:pt idx="11">
                    <c:v>09/02</c:v>
                  </c:pt>
                  <c:pt idx="12">
                    <c:v>09/03</c:v>
                  </c:pt>
                  <c:pt idx="13">
                    <c:v>09/04</c:v>
                  </c:pt>
                  <c:pt idx="14">
                    <c:v>09/05</c:v>
                  </c:pt>
                  <c:pt idx="15">
                    <c:v>09/06</c:v>
                  </c:pt>
                  <c:pt idx="16">
                    <c:v>09/07</c:v>
                  </c:pt>
                  <c:pt idx="17">
                    <c:v>09/08</c:v>
                  </c:pt>
                  <c:pt idx="18">
                    <c:v>09/09</c:v>
                  </c:pt>
                  <c:pt idx="19">
                    <c:v>09/10</c:v>
                  </c:pt>
                  <c:pt idx="20">
                    <c:v>09/11</c:v>
                  </c:pt>
                  <c:pt idx="21">
                    <c:v>09/12</c:v>
                  </c:pt>
                  <c:pt idx="22">
                    <c:v>09/13</c:v>
                  </c:pt>
                  <c:pt idx="23">
                    <c:v>09/14</c:v>
                  </c:pt>
                  <c:pt idx="24">
                    <c:v>09/17</c:v>
                  </c:pt>
                  <c:pt idx="25">
                    <c:v>09/18</c:v>
                  </c:pt>
                  <c:pt idx="26">
                    <c:v>09/19</c:v>
                  </c:pt>
                  <c:pt idx="27">
                    <c:v>09/20</c:v>
                  </c:pt>
                  <c:pt idx="28">
                    <c:v>09/21</c:v>
                  </c:pt>
                  <c:pt idx="29">
                    <c:v>09/22</c:v>
                  </c:pt>
                  <c:pt idx="30">
                    <c:v>09/23</c:v>
                  </c:pt>
                  <c:pt idx="31">
                    <c:v>09/24</c:v>
                  </c:pt>
                  <c:pt idx="32">
                    <c:v>09/25</c:v>
                  </c:pt>
                  <c:pt idx="33">
                    <c:v>09/26</c:v>
                  </c:pt>
                  <c:pt idx="34">
                    <c:v>09/27</c:v>
                  </c:pt>
                  <c:pt idx="35">
                    <c:v>09/28</c:v>
                  </c:pt>
                  <c:pt idx="36">
                    <c:v>09/29</c:v>
                  </c:pt>
                  <c:pt idx="37">
                    <c:v>10/02</c:v>
                  </c:pt>
                  <c:pt idx="38">
                    <c:v>10/03</c:v>
                  </c:pt>
                  <c:pt idx="39">
                    <c:v>10/04</c:v>
                  </c:pt>
                  <c:pt idx="40">
                    <c:v>10/05</c:v>
                  </c:pt>
                  <c:pt idx="41">
                    <c:v>10/06</c:v>
                  </c:pt>
                  <c:pt idx="42">
                    <c:v>10/07</c:v>
                  </c:pt>
                </c:lvl>
              </c:multiLvlStrCache>
            </c:multiLvlStrRef>
          </c:cat>
          <c:val>
            <c:numRef>
              <c:f>Sheet1!$B$2:$B$44</c:f>
              <c:numCache>
                <c:formatCode>General</c:formatCode>
                <c:ptCount val="43"/>
                <c:pt idx="0">
                  <c:v>53</c:v>
                </c:pt>
                <c:pt idx="1">
                  <c:v>53.4</c:v>
                </c:pt>
                <c:pt idx="2">
                  <c:v>51.6</c:v>
                </c:pt>
                <c:pt idx="3">
                  <c:v>55</c:v>
                </c:pt>
                <c:pt idx="4">
                  <c:v>54</c:v>
                </c:pt>
                <c:pt idx="5">
                  <c:v>52.7</c:v>
                </c:pt>
                <c:pt idx="6">
                  <c:v>52.1</c:v>
                </c:pt>
                <c:pt idx="7">
                  <c:v>52.3</c:v>
                </c:pt>
                <c:pt idx="8">
                  <c:v>52.8</c:v>
                </c:pt>
                <c:pt idx="9">
                  <c:v>53.1</c:v>
                </c:pt>
                <c:pt idx="10">
                  <c:v>52.4</c:v>
                </c:pt>
                <c:pt idx="11">
                  <c:v>52</c:v>
                </c:pt>
                <c:pt idx="12">
                  <c:v>52.9</c:v>
                </c:pt>
                <c:pt idx="13">
                  <c:v>52</c:v>
                </c:pt>
                <c:pt idx="14">
                  <c:v>53.2</c:v>
                </c:pt>
                <c:pt idx="15">
                  <c:v>53.6</c:v>
                </c:pt>
                <c:pt idx="16">
                  <c:v>53.4</c:v>
                </c:pt>
                <c:pt idx="17">
                  <c:v>51.2</c:v>
                </c:pt>
                <c:pt idx="18">
                  <c:v>51.5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28일 예측(미도래)</c:v>
                </c:pt>
              </c:strCache>
            </c:strRef>
          </c:tx>
          <c:spPr>
            <a:solidFill>
              <a:srgbClr val="6DA7EC"/>
            </a:solidFill>
            <a:ln w="25400" cap="flat">
              <a:solidFill>
                <a:srgbClr val="6DA7EC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DA7EC"/>
              </a:solidFill>
              <a:ln w="9525" cap="flat">
                <a:solidFill>
                  <a:srgbClr val="6DA7E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Sheet1!$A$2:$A$44</c:f>
              <c:multiLvlStrCache>
                <c:ptCount val="43"/>
                <c:lvl>
                  <c:pt idx="0">
                    <c:v>08/20</c:v>
                  </c:pt>
                  <c:pt idx="1">
                    <c:v>08/21</c:v>
                  </c:pt>
                  <c:pt idx="2">
                    <c:v>08/22</c:v>
                  </c:pt>
                  <c:pt idx="3">
                    <c:v>08/23</c:v>
                  </c:pt>
                  <c:pt idx="4">
                    <c:v>08/24</c:v>
                  </c:pt>
                  <c:pt idx="5">
                    <c:v>08/25</c:v>
                  </c:pt>
                  <c:pt idx="6">
                    <c:v>08/26</c:v>
                  </c:pt>
                  <c:pt idx="7">
                    <c:v>08/27</c:v>
                  </c:pt>
                  <c:pt idx="8">
                    <c:v>08/28</c:v>
                  </c:pt>
                  <c:pt idx="9">
                    <c:v>08/29</c:v>
                  </c:pt>
                  <c:pt idx="10">
                    <c:v>08/30</c:v>
                  </c:pt>
                  <c:pt idx="11">
                    <c:v>09/02</c:v>
                  </c:pt>
                  <c:pt idx="12">
                    <c:v>09/03</c:v>
                  </c:pt>
                  <c:pt idx="13">
                    <c:v>09/04</c:v>
                  </c:pt>
                  <c:pt idx="14">
                    <c:v>09/05</c:v>
                  </c:pt>
                  <c:pt idx="15">
                    <c:v>09/06</c:v>
                  </c:pt>
                  <c:pt idx="16">
                    <c:v>09/07</c:v>
                  </c:pt>
                  <c:pt idx="17">
                    <c:v>09/08</c:v>
                  </c:pt>
                  <c:pt idx="18">
                    <c:v>09/09</c:v>
                  </c:pt>
                  <c:pt idx="19">
                    <c:v>09/10</c:v>
                  </c:pt>
                  <c:pt idx="20">
                    <c:v>09/11</c:v>
                  </c:pt>
                  <c:pt idx="21">
                    <c:v>09/12</c:v>
                  </c:pt>
                  <c:pt idx="22">
                    <c:v>09/13</c:v>
                  </c:pt>
                  <c:pt idx="23">
                    <c:v>09/14</c:v>
                  </c:pt>
                  <c:pt idx="24">
                    <c:v>09/17</c:v>
                  </c:pt>
                  <c:pt idx="25">
                    <c:v>09/18</c:v>
                  </c:pt>
                  <c:pt idx="26">
                    <c:v>09/19</c:v>
                  </c:pt>
                  <c:pt idx="27">
                    <c:v>09/20</c:v>
                  </c:pt>
                  <c:pt idx="28">
                    <c:v>09/21</c:v>
                  </c:pt>
                  <c:pt idx="29">
                    <c:v>09/22</c:v>
                  </c:pt>
                  <c:pt idx="30">
                    <c:v>09/23</c:v>
                  </c:pt>
                  <c:pt idx="31">
                    <c:v>09/24</c:v>
                  </c:pt>
                  <c:pt idx="32">
                    <c:v>09/25</c:v>
                  </c:pt>
                  <c:pt idx="33">
                    <c:v>09/26</c:v>
                  </c:pt>
                  <c:pt idx="34">
                    <c:v>09/27</c:v>
                  </c:pt>
                  <c:pt idx="35">
                    <c:v>09/28</c:v>
                  </c:pt>
                  <c:pt idx="36">
                    <c:v>09/29</c:v>
                  </c:pt>
                  <c:pt idx="37">
                    <c:v>10/02</c:v>
                  </c:pt>
                  <c:pt idx="38">
                    <c:v>10/03</c:v>
                  </c:pt>
                  <c:pt idx="39">
                    <c:v>10/04</c:v>
                  </c:pt>
                  <c:pt idx="40">
                    <c:v>10/05</c:v>
                  </c:pt>
                  <c:pt idx="41">
                    <c:v>10/06</c:v>
                  </c:pt>
                  <c:pt idx="42">
                    <c:v>10/07</c:v>
                  </c:pt>
                </c:lvl>
              </c:multiLvlStrCache>
            </c:multiLvlStrRef>
          </c:cat>
          <c:val>
            <c:numRef>
              <c:f>Sheet1!$C$2:$C$44</c:f>
              <c:numCache>
                <c:formatCode>General</c:formatCode>
                <c:ptCount val="43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52.3</c:v>
                </c:pt>
                <c:pt idx="20">
                  <c:v>52.2</c:v>
                </c:pt>
                <c:pt idx="21">
                  <c:v>51.1</c:v>
                </c:pt>
                <c:pt idx="22">
                  <c:v>52.1</c:v>
                </c:pt>
                <c:pt idx="23">
                  <c:v>53.6</c:v>
                </c:pt>
                <c:pt idx="24">
                  <c:v>55</c:v>
                </c:pt>
                <c:pt idx="25">
                  <c:v>48.7</c:v>
                </c:pt>
                <c:pt idx="26">
                  <c:v>46.2</c:v>
                </c:pt>
                <c:pt idx="27">
                  <c:v>46.2</c:v>
                </c:pt>
                <c:pt idx="28">
                  <c:v>46.4</c:v>
                </c:pt>
                <c:pt idx="29">
                  <c:v>46.7</c:v>
                </c:pt>
                <c:pt idx="30">
                  <c:v>48.3</c:v>
                </c:pt>
                <c:pt idx="31">
                  <c:v>53.6</c:v>
                </c:pt>
                <c:pt idx="32">
                  <c:v>52.4</c:v>
                </c:pt>
                <c:pt idx="33">
                  <c:v>52.1</c:v>
                </c:pt>
                <c:pt idx="34">
                  <c:v>52.2</c:v>
                </c:pt>
                <c:pt idx="35">
                  <c:v>52.7</c:v>
                </c:pt>
                <c:pt idx="36">
                  <c:v>52.7</c:v>
                </c:pt>
                <c:pt idx="37">
                  <c:v>52.7</c:v>
                </c:pt>
                <c:pt idx="38">
                  <c:v>52.8</c:v>
                </c:pt>
                <c:pt idx="39">
                  <c:v>52.1</c:v>
                </c:pt>
                <c:pt idx="40">
                  <c:v>51.8</c:v>
                </c:pt>
                <c:pt idx="41">
                  <c:v>52</c:v>
                </c:pt>
                <c:pt idx="42">
                  <c:v>52.9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사내 하한 48</c:v>
                </c:pt>
              </c:strCache>
            </c:strRef>
          </c:tx>
          <c:spPr>
            <a:solidFill>
              <a:srgbClr val="EC835A"/>
            </a:solidFill>
            <a:ln w="15875" cap="flat">
              <a:solidFill>
                <a:srgbClr val="EC835A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835A"/>
              </a:solidFill>
              <a:ln w="9525" cap="flat">
                <a:solidFill>
                  <a:srgbClr val="EC83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Sheet1!$A$2:$A$44</c:f>
              <c:multiLvlStrCache>
                <c:ptCount val="43"/>
                <c:lvl>
                  <c:pt idx="0">
                    <c:v>08/20</c:v>
                  </c:pt>
                  <c:pt idx="1">
                    <c:v>08/21</c:v>
                  </c:pt>
                  <c:pt idx="2">
                    <c:v>08/22</c:v>
                  </c:pt>
                  <c:pt idx="3">
                    <c:v>08/23</c:v>
                  </c:pt>
                  <c:pt idx="4">
                    <c:v>08/24</c:v>
                  </c:pt>
                  <c:pt idx="5">
                    <c:v>08/25</c:v>
                  </c:pt>
                  <c:pt idx="6">
                    <c:v>08/26</c:v>
                  </c:pt>
                  <c:pt idx="7">
                    <c:v>08/27</c:v>
                  </c:pt>
                  <c:pt idx="8">
                    <c:v>08/28</c:v>
                  </c:pt>
                  <c:pt idx="9">
                    <c:v>08/29</c:v>
                  </c:pt>
                  <c:pt idx="10">
                    <c:v>08/30</c:v>
                  </c:pt>
                  <c:pt idx="11">
                    <c:v>09/02</c:v>
                  </c:pt>
                  <c:pt idx="12">
                    <c:v>09/03</c:v>
                  </c:pt>
                  <c:pt idx="13">
                    <c:v>09/04</c:v>
                  </c:pt>
                  <c:pt idx="14">
                    <c:v>09/05</c:v>
                  </c:pt>
                  <c:pt idx="15">
                    <c:v>09/06</c:v>
                  </c:pt>
                  <c:pt idx="16">
                    <c:v>09/07</c:v>
                  </c:pt>
                  <c:pt idx="17">
                    <c:v>09/08</c:v>
                  </c:pt>
                  <c:pt idx="18">
                    <c:v>09/09</c:v>
                  </c:pt>
                  <c:pt idx="19">
                    <c:v>09/10</c:v>
                  </c:pt>
                  <c:pt idx="20">
                    <c:v>09/11</c:v>
                  </c:pt>
                  <c:pt idx="21">
                    <c:v>09/12</c:v>
                  </c:pt>
                  <c:pt idx="22">
                    <c:v>09/13</c:v>
                  </c:pt>
                  <c:pt idx="23">
                    <c:v>09/14</c:v>
                  </c:pt>
                  <c:pt idx="24">
                    <c:v>09/17</c:v>
                  </c:pt>
                  <c:pt idx="25">
                    <c:v>09/18</c:v>
                  </c:pt>
                  <c:pt idx="26">
                    <c:v>09/19</c:v>
                  </c:pt>
                  <c:pt idx="27">
                    <c:v>09/20</c:v>
                  </c:pt>
                  <c:pt idx="28">
                    <c:v>09/21</c:v>
                  </c:pt>
                  <c:pt idx="29">
                    <c:v>09/22</c:v>
                  </c:pt>
                  <c:pt idx="30">
                    <c:v>09/23</c:v>
                  </c:pt>
                  <c:pt idx="31">
                    <c:v>09/24</c:v>
                  </c:pt>
                  <c:pt idx="32">
                    <c:v>09/25</c:v>
                  </c:pt>
                  <c:pt idx="33">
                    <c:v>09/26</c:v>
                  </c:pt>
                  <c:pt idx="34">
                    <c:v>09/27</c:v>
                  </c:pt>
                  <c:pt idx="35">
                    <c:v>09/28</c:v>
                  </c:pt>
                  <c:pt idx="36">
                    <c:v>09/29</c:v>
                  </c:pt>
                  <c:pt idx="37">
                    <c:v>10/02</c:v>
                  </c:pt>
                  <c:pt idx="38">
                    <c:v>10/03</c:v>
                  </c:pt>
                  <c:pt idx="39">
                    <c:v>10/04</c:v>
                  </c:pt>
                  <c:pt idx="40">
                    <c:v>10/05</c:v>
                  </c:pt>
                  <c:pt idx="41">
                    <c:v>10/06</c:v>
                  </c:pt>
                  <c:pt idx="42">
                    <c:v>10/07</c:v>
                  </c:pt>
                </c:lvl>
              </c:multiLvlStrCache>
            </c:multiLvlStrRef>
          </c:cat>
          <c:val>
            <c:numRef>
              <c:f>Sheet1!$D$2:$D$44</c:f>
              <c:numCache>
                <c:formatCode>General</c:formatCode>
                <c:ptCount val="43"/>
                <c:pt idx="0">
                  <c:v>48</c:v>
                </c:pt>
                <c:pt idx="1">
                  <c:v>48</c:v>
                </c:pt>
                <c:pt idx="2">
                  <c:v>48</c:v>
                </c:pt>
                <c:pt idx="3">
                  <c:v>48</c:v>
                </c:pt>
                <c:pt idx="4">
                  <c:v>48</c:v>
                </c:pt>
                <c:pt idx="5">
                  <c:v>48</c:v>
                </c:pt>
                <c:pt idx="6">
                  <c:v>48</c:v>
                </c:pt>
                <c:pt idx="7">
                  <c:v>48</c:v>
                </c:pt>
                <c:pt idx="8">
                  <c:v>48</c:v>
                </c:pt>
                <c:pt idx="9">
                  <c:v>48</c:v>
                </c:pt>
                <c:pt idx="10">
                  <c:v>48</c:v>
                </c:pt>
                <c:pt idx="11">
                  <c:v>48</c:v>
                </c:pt>
                <c:pt idx="12">
                  <c:v>48</c:v>
                </c:pt>
                <c:pt idx="13">
                  <c:v>48</c:v>
                </c:pt>
                <c:pt idx="14">
                  <c:v>48</c:v>
                </c:pt>
                <c:pt idx="15">
                  <c:v>48</c:v>
                </c:pt>
                <c:pt idx="16">
                  <c:v>48</c:v>
                </c:pt>
                <c:pt idx="17">
                  <c:v>48</c:v>
                </c:pt>
                <c:pt idx="18">
                  <c:v>48</c:v>
                </c:pt>
                <c:pt idx="19">
                  <c:v>48</c:v>
                </c:pt>
                <c:pt idx="20">
                  <c:v>48</c:v>
                </c:pt>
                <c:pt idx="21">
                  <c:v>48</c:v>
                </c:pt>
                <c:pt idx="22">
                  <c:v>48</c:v>
                </c:pt>
                <c:pt idx="23">
                  <c:v>48</c:v>
                </c:pt>
                <c:pt idx="24">
                  <c:v>48</c:v>
                </c:pt>
                <c:pt idx="25">
                  <c:v>48</c:v>
                </c:pt>
                <c:pt idx="26">
                  <c:v>48</c:v>
                </c:pt>
                <c:pt idx="27">
                  <c:v>48</c:v>
                </c:pt>
                <c:pt idx="28">
                  <c:v>48</c:v>
                </c:pt>
                <c:pt idx="29">
                  <c:v>48</c:v>
                </c:pt>
                <c:pt idx="30">
                  <c:v>48</c:v>
                </c:pt>
                <c:pt idx="31">
                  <c:v>48</c:v>
                </c:pt>
                <c:pt idx="32">
                  <c:v>48</c:v>
                </c:pt>
                <c:pt idx="33">
                  <c:v>48</c:v>
                </c:pt>
                <c:pt idx="34">
                  <c:v>48</c:v>
                </c:pt>
                <c:pt idx="35">
                  <c:v>48</c:v>
                </c:pt>
                <c:pt idx="36">
                  <c:v>48</c:v>
                </c:pt>
                <c:pt idx="37">
                  <c:v>48</c:v>
                </c:pt>
                <c:pt idx="38">
                  <c:v>48</c:v>
                </c:pt>
                <c:pt idx="39">
                  <c:v>48</c:v>
                </c:pt>
                <c:pt idx="40">
                  <c:v>48</c:v>
                </c:pt>
                <c:pt idx="41">
                  <c:v>48</c:v>
                </c:pt>
                <c:pt idx="42">
                  <c:v>48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KS 하한 42.5</c:v>
                </c:pt>
              </c:strCache>
            </c:strRef>
          </c:tx>
          <c:spPr>
            <a:solidFill>
              <a:srgbClr val="D03B3B"/>
            </a:solidFill>
            <a:ln w="15875" cap="flat">
              <a:solidFill>
                <a:srgbClr val="D03B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03B3B"/>
              </a:solidFill>
              <a:ln w="9525" cap="flat">
                <a:solidFill>
                  <a:srgbClr val="D03B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Sheet1!$A$2:$A$44</c:f>
              <c:multiLvlStrCache>
                <c:ptCount val="43"/>
                <c:lvl>
                  <c:pt idx="0">
                    <c:v>08/20</c:v>
                  </c:pt>
                  <c:pt idx="1">
                    <c:v>08/21</c:v>
                  </c:pt>
                  <c:pt idx="2">
                    <c:v>08/22</c:v>
                  </c:pt>
                  <c:pt idx="3">
                    <c:v>08/23</c:v>
                  </c:pt>
                  <c:pt idx="4">
                    <c:v>08/24</c:v>
                  </c:pt>
                  <c:pt idx="5">
                    <c:v>08/25</c:v>
                  </c:pt>
                  <c:pt idx="6">
                    <c:v>08/26</c:v>
                  </c:pt>
                  <c:pt idx="7">
                    <c:v>08/27</c:v>
                  </c:pt>
                  <c:pt idx="8">
                    <c:v>08/28</c:v>
                  </c:pt>
                  <c:pt idx="9">
                    <c:v>08/29</c:v>
                  </c:pt>
                  <c:pt idx="10">
                    <c:v>08/30</c:v>
                  </c:pt>
                  <c:pt idx="11">
                    <c:v>09/02</c:v>
                  </c:pt>
                  <c:pt idx="12">
                    <c:v>09/03</c:v>
                  </c:pt>
                  <c:pt idx="13">
                    <c:v>09/04</c:v>
                  </c:pt>
                  <c:pt idx="14">
                    <c:v>09/05</c:v>
                  </c:pt>
                  <c:pt idx="15">
                    <c:v>09/06</c:v>
                  </c:pt>
                  <c:pt idx="16">
                    <c:v>09/07</c:v>
                  </c:pt>
                  <c:pt idx="17">
                    <c:v>09/08</c:v>
                  </c:pt>
                  <c:pt idx="18">
                    <c:v>09/09</c:v>
                  </c:pt>
                  <c:pt idx="19">
                    <c:v>09/10</c:v>
                  </c:pt>
                  <c:pt idx="20">
                    <c:v>09/11</c:v>
                  </c:pt>
                  <c:pt idx="21">
                    <c:v>09/12</c:v>
                  </c:pt>
                  <c:pt idx="22">
                    <c:v>09/13</c:v>
                  </c:pt>
                  <c:pt idx="23">
                    <c:v>09/14</c:v>
                  </c:pt>
                  <c:pt idx="24">
                    <c:v>09/17</c:v>
                  </c:pt>
                  <c:pt idx="25">
                    <c:v>09/18</c:v>
                  </c:pt>
                  <c:pt idx="26">
                    <c:v>09/19</c:v>
                  </c:pt>
                  <c:pt idx="27">
                    <c:v>09/20</c:v>
                  </c:pt>
                  <c:pt idx="28">
                    <c:v>09/21</c:v>
                  </c:pt>
                  <c:pt idx="29">
                    <c:v>09/22</c:v>
                  </c:pt>
                  <c:pt idx="30">
                    <c:v>09/23</c:v>
                  </c:pt>
                  <c:pt idx="31">
                    <c:v>09/24</c:v>
                  </c:pt>
                  <c:pt idx="32">
                    <c:v>09/25</c:v>
                  </c:pt>
                  <c:pt idx="33">
                    <c:v>09/26</c:v>
                  </c:pt>
                  <c:pt idx="34">
                    <c:v>09/27</c:v>
                  </c:pt>
                  <c:pt idx="35">
                    <c:v>09/28</c:v>
                  </c:pt>
                  <c:pt idx="36">
                    <c:v>09/29</c:v>
                  </c:pt>
                  <c:pt idx="37">
                    <c:v>10/02</c:v>
                  </c:pt>
                  <c:pt idx="38">
                    <c:v>10/03</c:v>
                  </c:pt>
                  <c:pt idx="39">
                    <c:v>10/04</c:v>
                  </c:pt>
                  <c:pt idx="40">
                    <c:v>10/05</c:v>
                  </c:pt>
                  <c:pt idx="41">
                    <c:v>10/06</c:v>
                  </c:pt>
                  <c:pt idx="42">
                    <c:v>10/07</c:v>
                  </c:pt>
                </c:lvl>
              </c:multiLvlStrCache>
            </c:multiLvlStrRef>
          </c:cat>
          <c:val>
            <c:numRef>
              <c:f>Sheet1!$E$2:$E$44</c:f>
              <c:numCache>
                <c:formatCode>General</c:formatCode>
                <c:ptCount val="43"/>
                <c:pt idx="0">
                  <c:v>42.5</c:v>
                </c:pt>
                <c:pt idx="1">
                  <c:v>42.5</c:v>
                </c:pt>
                <c:pt idx="2">
                  <c:v>42.5</c:v>
                </c:pt>
                <c:pt idx="3">
                  <c:v>42.5</c:v>
                </c:pt>
                <c:pt idx="4">
                  <c:v>42.5</c:v>
                </c:pt>
                <c:pt idx="5">
                  <c:v>42.5</c:v>
                </c:pt>
                <c:pt idx="6">
                  <c:v>42.5</c:v>
                </c:pt>
                <c:pt idx="7">
                  <c:v>42.5</c:v>
                </c:pt>
                <c:pt idx="8">
                  <c:v>42.5</c:v>
                </c:pt>
                <c:pt idx="9">
                  <c:v>42.5</c:v>
                </c:pt>
                <c:pt idx="10">
                  <c:v>42.5</c:v>
                </c:pt>
                <c:pt idx="11">
                  <c:v>42.5</c:v>
                </c:pt>
                <c:pt idx="12">
                  <c:v>42.5</c:v>
                </c:pt>
                <c:pt idx="13">
                  <c:v>42.5</c:v>
                </c:pt>
                <c:pt idx="14">
                  <c:v>42.5</c:v>
                </c:pt>
                <c:pt idx="15">
                  <c:v>42.5</c:v>
                </c:pt>
                <c:pt idx="16">
                  <c:v>42.5</c:v>
                </c:pt>
                <c:pt idx="17">
                  <c:v>42.5</c:v>
                </c:pt>
                <c:pt idx="18">
                  <c:v>42.5</c:v>
                </c:pt>
                <c:pt idx="19">
                  <c:v>42.5</c:v>
                </c:pt>
                <c:pt idx="20">
                  <c:v>42.5</c:v>
                </c:pt>
                <c:pt idx="21">
                  <c:v>42.5</c:v>
                </c:pt>
                <c:pt idx="22">
                  <c:v>42.5</c:v>
                </c:pt>
                <c:pt idx="23">
                  <c:v>42.5</c:v>
                </c:pt>
                <c:pt idx="24">
                  <c:v>42.5</c:v>
                </c:pt>
                <c:pt idx="25">
                  <c:v>42.5</c:v>
                </c:pt>
                <c:pt idx="26">
                  <c:v>42.5</c:v>
                </c:pt>
                <c:pt idx="27">
                  <c:v>42.5</c:v>
                </c:pt>
                <c:pt idx="28">
                  <c:v>42.5</c:v>
                </c:pt>
                <c:pt idx="29">
                  <c:v>42.5</c:v>
                </c:pt>
                <c:pt idx="30">
                  <c:v>42.5</c:v>
                </c:pt>
                <c:pt idx="31">
                  <c:v>42.5</c:v>
                </c:pt>
                <c:pt idx="32">
                  <c:v>42.5</c:v>
                </c:pt>
                <c:pt idx="33">
                  <c:v>42.5</c:v>
                </c:pt>
                <c:pt idx="34">
                  <c:v>42.5</c:v>
                </c:pt>
                <c:pt idx="35">
                  <c:v>42.5</c:v>
                </c:pt>
                <c:pt idx="36">
                  <c:v>42.5</c:v>
                </c:pt>
                <c:pt idx="37">
                  <c:v>42.5</c:v>
                </c:pt>
                <c:pt idx="38">
                  <c:v>42.5</c:v>
                </c:pt>
                <c:pt idx="39">
                  <c:v>42.5</c:v>
                </c:pt>
                <c:pt idx="40">
                  <c:v>42.5</c:v>
                </c:pt>
                <c:pt idx="41">
                  <c:v>42.5</c:v>
                </c:pt>
                <c:pt idx="42">
                  <c:v>42.5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5"/>
      </c:catAx>
      <c:valAx>
        <c:axId val="2094734552"/>
        <c:scaling>
          <c:orientation val="minMax"/>
          <c:max val="58"/>
          <c:min val="40"/>
        </c:scaling>
        <c:delete val="0"/>
        <c:axPos val="l"/>
        <c:majorGridlines>
          <c:spPr>
            <a:ln w="9525" cap="flat">
              <a:solidFill>
                <a:srgbClr val="E3E7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F6B73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F6B73"/>
                    </a:solidFill>
                    <a:latin typeface="+mn-lt"/>
                  </a:rPr>
                  <a:t>MPa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F6B7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시멘트 공정 전반의 품질 데이터를 한 곳에서 감시하고, 기준 이탈 시 자동 알림과 원인·대책까지 제시하는 시스템의 1단계 결과와 향후 계획을 보고드립니다.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세 가지입니다. 첫째, 가상 공장 데이터에 넣은 이상 6종을 모두 감지하고 원인을 맞혔습니다. 둘째, 28일 강도를 3·7일 시점에 미리 예측합니다. 셋째, 58개 항목을 자동 감시합니다. 실데이터 검증은 다음 단계 과제입니다.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가지는 시멘트 공장에서 흔한 과제를 정리한 것입니다. 당사 현황과 다른 부분은 보완하겠습니다.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왼쪽의 공정 데이터를 모아, 가운데 다섯 기능이 순서대로 처리하고, 오른쪽 사용자에게 필요한 형태로 전달합니다.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빨강·주황·노랑 색과 함께 '위험·경고·주의' 글자를 항상 같이 표시합니다. 경고 이상만 메일·메신저로 보내 알림 피로를 줄였습니다.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가설마다 어떤 데이터가 어느 방향으로 변해야 하는지 정의해 두고, 실제 데이터를 비교해 점수를 매깁니다. 측정 데이터가 없는 설비 원인은 '추정'으로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2차 공기 온도 저하(냉각기 가설)는 소성 부족과 함께 나타나는 동반 증상일 수 있어, 현장 확인으로 구분합니다. 이처럼 데이터가 지지하는 가설과 아닌 가설을 나눠 확인 순서를 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오차가 약 1.1~1.2 MPa이므로 예측값 ±2.3 MPa(약 95%) 범위로 봐야 합니다. 실데이터가 쌓이면 자동 재학습합니다.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구현 화면입니다(데모 데이터). 엑셀 템플릿으로 실데이터를 올리면 바로 같은 화면으로 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가상 데이터라는 한계가 있지만, 원인이 다른 여섯 가지 이상을 서로 구분해 맞혔다는 점이 의미가 있습니다. 데이터가 없는 원인은 추정으로 정직하게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2단계가 핵심입니다. 실데이터로 사내 기준과 예측 모델을 보정해야 실제 운영 신뢰성을 확보할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 없는 숫자를 드리지 않기 위해 정량 효과는 시범 운영에서 측정하겠습니다.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승인해 주시면 다음 달부터 실데이터 적재를 시작하고, 3개월 뒤 정량 효과와 함께 결과를 보고드리겠습니다.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60020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82512"/>
            <a:ext cx="1033272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6002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시멘트 통합 품질관리 시스템 구축 계획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모니터링 · 알림 · 원인 진단 · 솔루션을 하나로 — 1단계 구현 결과와 추진 계획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품질관리팀  ·  2026년 10월  ·  경영진 보고</a:t>
            </a:r>
            <a:endParaRPr lang="en-US" sz="1400" dirty="0"/>
          </a:p>
        </p:txBody>
      </p:sp>
      <p:sp>
        <p:nvSpPr>
          <p:cNvPr id="5" name="Motif 1 circle"/>
          <p:cNvSpPr/>
          <p:nvPr/>
        </p:nvSpPr>
        <p:spPr>
          <a:xfrm>
            <a:off x="731520" y="4343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Motif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4497019"/>
            <a:ext cx="332842" cy="332842"/>
          </a:xfrm>
          <a:prstGeom prst="rect">
            <a:avLst/>
          </a:prstGeom>
        </p:spPr>
      </p:pic>
      <p:sp>
        <p:nvSpPr>
          <p:cNvPr id="7" name="Motif 2 circle"/>
          <p:cNvSpPr/>
          <p:nvPr/>
        </p:nvSpPr>
        <p:spPr>
          <a:xfrm>
            <a:off x="1600200" y="4343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Motif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819" y="4497019"/>
            <a:ext cx="332842" cy="332842"/>
          </a:xfrm>
          <a:prstGeom prst="rect">
            <a:avLst/>
          </a:prstGeom>
        </p:spPr>
      </p:pic>
      <p:sp>
        <p:nvSpPr>
          <p:cNvPr id="9" name="Motif 3 circle"/>
          <p:cNvSpPr/>
          <p:nvPr/>
        </p:nvSpPr>
        <p:spPr>
          <a:xfrm>
            <a:off x="2468880" y="4343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Motif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2499" y="4497019"/>
            <a:ext cx="332842" cy="332842"/>
          </a:xfrm>
          <a:prstGeom prst="rect">
            <a:avLst/>
          </a:prstGeom>
        </p:spPr>
      </p:pic>
      <p:sp>
        <p:nvSpPr>
          <p:cNvPr id="11" name="Motif 4 circle"/>
          <p:cNvSpPr/>
          <p:nvPr/>
        </p:nvSpPr>
        <p:spPr>
          <a:xfrm>
            <a:off x="3337560" y="4343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Motif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179" y="4497019"/>
            <a:ext cx="332842" cy="332842"/>
          </a:xfrm>
          <a:prstGeom prst="rect">
            <a:avLst/>
          </a:prstGeom>
        </p:spPr>
      </p:pic>
      <p:sp>
        <p:nvSpPr>
          <p:cNvPr id="13" name="Motif 5 circle"/>
          <p:cNvSpPr/>
          <p:nvPr/>
        </p:nvSpPr>
        <p:spPr>
          <a:xfrm>
            <a:off x="4206240" y="4343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Motif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9859" y="4497019"/>
            <a:ext cx="332842" cy="3328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핵심 요약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1단계 시스템 구현을 마쳤으며, 실데이터 시범 운영 승인을 요청드립니다</a:t>
            </a:r>
            <a:endParaRPr lang="en-US" sz="1700" dirty="0"/>
          </a:p>
        </p:txBody>
      </p:sp>
      <p:sp>
        <p:nvSpPr>
          <p:cNvPr id="4" name="Stat 1"/>
          <p:cNvSpPr/>
          <p:nvPr/>
        </p:nvSpPr>
        <p:spPr>
          <a:xfrm>
            <a:off x="548640" y="1691640"/>
            <a:ext cx="39319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562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8 / 8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41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데모 이상 사례 원인 진단 일치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가상 데이터 6개 시나리오 · 8개 알림 사례</a:t>
            </a:r>
            <a:endParaRPr lang="en-US" sz="1100" dirty="0"/>
          </a:p>
        </p:txBody>
      </p:sp>
      <p:sp>
        <p:nvSpPr>
          <p:cNvPr id="8" name="Stat 2"/>
          <p:cNvSpPr/>
          <p:nvPr/>
        </p:nvSpPr>
        <p:spPr>
          <a:xfrm>
            <a:off x="548640" y="3200400"/>
            <a:ext cx="39319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36499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3·7일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950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28일 강도 미달 조기 경보 시점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206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28일 결과 전, 조기강도·분말도 기반 예측</a:t>
            </a:r>
            <a:endParaRPr lang="en-US" sz="1100" dirty="0"/>
          </a:p>
        </p:txBody>
      </p:sp>
      <p:sp>
        <p:nvSpPr>
          <p:cNvPr id="12" name="Stat 3"/>
          <p:cNvSpPr/>
          <p:nvPr/>
        </p:nvSpPr>
        <p:spPr>
          <a:xfrm>
            <a:off x="548640" y="4709160"/>
            <a:ext cx="39319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87375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58개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4589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자동 감시 관리항목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715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생료 → 소성 → 클링커 → 분쇄 → 제품 · 시험조건</a:t>
            </a:r>
            <a:endParaRPr lang="en-US" sz="1100" dirty="0"/>
          </a:p>
        </p:txBody>
      </p:sp>
      <p:sp>
        <p:nvSpPr>
          <p:cNvPr id="16" name="Summary 목적 circle"/>
          <p:cNvSpPr/>
          <p:nvPr/>
        </p:nvSpPr>
        <p:spPr>
          <a:xfrm>
            <a:off x="4892040" y="173736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Summary 목적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8103" y="1873423"/>
            <a:ext cx="294803" cy="294803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669280" y="171907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목적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0" y="206654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품질 데이터를 한곳에서 감시하고, 기준 이탈을 자동으로 알리며, 원인과 대책까지 제시</a:t>
            </a:r>
            <a:endParaRPr lang="en-US" sz="1400" dirty="0"/>
          </a:p>
        </p:txBody>
      </p:sp>
      <p:sp>
        <p:nvSpPr>
          <p:cNvPr id="20" name="Summary 1단계 결과 circle"/>
          <p:cNvSpPr/>
          <p:nvPr/>
        </p:nvSpPr>
        <p:spPr>
          <a:xfrm>
            <a:off x="4892040" y="2852928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Summary 1단계 결과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103" y="2988991"/>
            <a:ext cx="294803" cy="294803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669280" y="283464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1단계 결과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5669280" y="318211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웹 대시보드 10개 화면 · 3단계 판정(KS·사내·SPC) · 5축 원인 진단 · 28일 예측 · 보고서 자동 생성</a:t>
            </a:r>
            <a:endParaRPr lang="en-US" sz="1400" dirty="0"/>
          </a:p>
        </p:txBody>
      </p:sp>
      <p:sp>
        <p:nvSpPr>
          <p:cNvPr id="24" name="Summary 다음 단계 circle"/>
          <p:cNvSpPr/>
          <p:nvPr/>
        </p:nvSpPr>
        <p:spPr>
          <a:xfrm>
            <a:off x="4892040" y="3968496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Summary 다음 단계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8103" y="4104559"/>
            <a:ext cx="294803" cy="294803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669280" y="395020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다음 단계</a:t>
            </a:r>
            <a:endParaRPr lang="en-US" sz="1700" dirty="0"/>
          </a:p>
        </p:txBody>
      </p:sp>
      <p:sp>
        <p:nvSpPr>
          <p:cNvPr id="27" name="Text 22"/>
          <p:cNvSpPr txBox="1"/>
          <p:nvPr/>
        </p:nvSpPr>
        <p:spPr>
          <a:xfrm>
            <a:off x="5669280" y="4297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실데이터 2~3개월 시범 운영으로 관리기준·예측 모델을 공장에 맞게 보정</a:t>
            </a:r>
            <a:endParaRPr lang="en-US" sz="1400" dirty="0"/>
          </a:p>
        </p:txBody>
      </p:sp>
      <p:sp>
        <p:nvSpPr>
          <p:cNvPr id="28" name="Summary 요청 사항 circle"/>
          <p:cNvSpPr/>
          <p:nvPr/>
        </p:nvSpPr>
        <p:spPr>
          <a:xfrm>
            <a:off x="4892040" y="5084064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Summary 요청 사항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8103" y="5220127"/>
            <a:ext cx="294803" cy="294803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5669280" y="506577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요청 사항</a:t>
            </a:r>
            <a:endParaRPr lang="en-US" sz="1700" dirty="0"/>
          </a:p>
        </p:txBody>
      </p:sp>
      <p:sp>
        <p:nvSpPr>
          <p:cNvPr id="31" name="Text 25"/>
          <p:cNvSpPr txBox="1"/>
          <p:nvPr/>
        </p:nvSpPr>
        <p:spPr>
          <a:xfrm>
            <a:off x="5669280" y="541324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시범 운영 승인 · 데이터 연계 협조(IT·계장) · 공정별 담당자 지정</a:t>
            </a:r>
            <a:endParaRPr lang="en-US" sz="1400" dirty="0"/>
          </a:p>
        </p:txBody>
      </p:sp>
      <p:sp>
        <p:nvSpPr>
          <p:cNvPr id="32" name="Text 0"/>
          <p:cNvSpPr/>
          <p:nvPr>
            <p:ph idx="102" type="body" hasCustomPrompt="1"/>
          </p:nvPr>
        </p:nvSpPr>
        <p:spPr>
          <a:xfrm>
            <a:off x="548640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※ 수치는 데모(가상) 데이터 검증 결과 — 실데이터 성능은 2단계 시범 운영에서 확인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추진 배경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품질 이상을 '사후 확인'에서 '사전 감지·근거 기반 진단'으로 바꿔야 합니다</a:t>
            </a:r>
            <a:endParaRPr lang="en-US" sz="1700" dirty="0"/>
          </a:p>
        </p:txBody>
      </p:sp>
      <p:sp>
        <p:nvSpPr>
          <p:cNvPr id="4" name="Issue 1"/>
          <p:cNvSpPr/>
          <p:nvPr/>
        </p:nvSpPr>
        <p:spPr>
          <a:xfrm>
            <a:off x="548640" y="169164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ssue 1 circle"/>
          <p:cNvSpPr/>
          <p:nvPr/>
        </p:nvSpPr>
        <p:spPr>
          <a:xfrm>
            <a:off x="822960" y="1984248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ssu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968" y="2142256"/>
            <a:ext cx="342351" cy="3423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01168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데이터가 흩어져 있음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496312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XRF·DCS·물성 시험 데이터가 시스템·엑셀별로 분산되어, 생료부터 제품까지 잇는 원인 분석이 어렵습니다.</a:t>
            </a:r>
            <a:endParaRPr lang="en-US" sz="1400" dirty="0"/>
          </a:p>
        </p:txBody>
      </p:sp>
      <p:sp>
        <p:nvSpPr>
          <p:cNvPr id="9" name="Issue 2"/>
          <p:cNvSpPr/>
          <p:nvPr/>
        </p:nvSpPr>
        <p:spPr>
          <a:xfrm>
            <a:off x="6172200" y="169164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ssue 2 circle"/>
          <p:cNvSpPr/>
          <p:nvPr/>
        </p:nvSpPr>
        <p:spPr>
          <a:xfrm>
            <a:off x="6446520" y="1984248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ssu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528" y="2142256"/>
            <a:ext cx="342351" cy="3423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201168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28일 강도는 사후 확인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315200" y="2496312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결과가 생산 28일 뒤에 나와 이미 출하된 뒤 이상을 알게 됩니다. 조기 경보가 필요합니다.</a:t>
            </a:r>
            <a:endParaRPr lang="en-US" sz="1400" dirty="0"/>
          </a:p>
        </p:txBody>
      </p:sp>
      <p:sp>
        <p:nvSpPr>
          <p:cNvPr id="14" name="Issue 3"/>
          <p:cNvSpPr/>
          <p:nvPr/>
        </p:nvSpPr>
        <p:spPr>
          <a:xfrm>
            <a:off x="548640" y="397764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ssue 3 circle"/>
          <p:cNvSpPr/>
          <p:nvPr/>
        </p:nvSpPr>
        <p:spPr>
          <a:xfrm>
            <a:off x="822960" y="4270248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ssu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968" y="4428256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91640" y="429768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대응이 경험에 의존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1691640" y="4782312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원인 판단 근거와 조치 이력이 표준화되지 않아 담당자에 따라 대응 품질에 편차가 생깁니다.</a:t>
            </a:r>
            <a:endParaRPr lang="en-US" sz="1400" dirty="0"/>
          </a:p>
        </p:txBody>
      </p:sp>
      <p:sp>
        <p:nvSpPr>
          <p:cNvPr id="19" name="Issue 4"/>
          <p:cNvSpPr/>
          <p:nvPr/>
        </p:nvSpPr>
        <p:spPr>
          <a:xfrm>
            <a:off x="6172200" y="397764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ssue 4 circle"/>
          <p:cNvSpPr/>
          <p:nvPr/>
        </p:nvSpPr>
        <p:spPr>
          <a:xfrm>
            <a:off x="6446520" y="4270248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ssu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528" y="4428256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0" y="429768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반복되는 수작업 보고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0" y="4782312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보고서·회의 자료를 매번 수작업으로 집계하고 작성합니다.</a:t>
            </a:r>
            <a:endParaRPr lang="en-US" sz="1400" dirty="0"/>
          </a:p>
        </p:txBody>
      </p:sp>
      <p:sp>
        <p:nvSpPr>
          <p:cNvPr id="24" name="Text 0"/>
          <p:cNvSpPr/>
          <p:nvPr>
            <p:ph idx="102" type="body" hasCustomPrompt="1"/>
          </p:nvPr>
        </p:nvSpPr>
        <p:spPr>
          <a:xfrm>
            <a:off x="548640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※ 일반적인 시멘트 공장 품질관리 과제(추정) — 당사 현황 진단 결과로 보완 필요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시스템 구성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흩어진 데이터를 모아 감시 → 알림 → 진단 → 보고까지 자동으로 연결합니다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입력 데이터</a:t>
            </a:r>
            <a:endParaRPr lang="en-US" sz="1500" dirty="0"/>
          </a:p>
        </p:txBody>
      </p:sp>
      <p:sp>
        <p:nvSpPr>
          <p:cNvPr id="5" name="Source 1"/>
          <p:cNvSpPr/>
          <p:nvPr/>
        </p:nvSpPr>
        <p:spPr>
          <a:xfrm>
            <a:off x="548640" y="2057400"/>
            <a:ext cx="26517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05740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생료 XRF·잔사</a:t>
            </a:r>
            <a:endParaRPr lang="en-US" sz="1400" dirty="0"/>
          </a:p>
        </p:txBody>
      </p:sp>
      <p:sp>
        <p:nvSpPr>
          <p:cNvPr id="7" name="Source 2"/>
          <p:cNvSpPr/>
          <p:nvPr/>
        </p:nvSpPr>
        <p:spPr>
          <a:xfrm>
            <a:off x="548640" y="2843784"/>
            <a:ext cx="26517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84378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킬른 DCS 운전값</a:t>
            </a:r>
            <a:endParaRPr lang="en-US" sz="1400" dirty="0"/>
          </a:p>
        </p:txBody>
      </p:sp>
      <p:sp>
        <p:nvSpPr>
          <p:cNvPr id="9" name="Source 3"/>
          <p:cNvSpPr/>
          <p:nvPr/>
        </p:nvSpPr>
        <p:spPr>
          <a:xfrm>
            <a:off x="548640" y="3630168"/>
            <a:ext cx="26517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6301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클링커 XRF·f-CaO</a:t>
            </a:r>
            <a:endParaRPr lang="en-US" sz="1400" dirty="0"/>
          </a:p>
        </p:txBody>
      </p:sp>
      <p:sp>
        <p:nvSpPr>
          <p:cNvPr id="11" name="Source 4"/>
          <p:cNvSpPr/>
          <p:nvPr/>
        </p:nvSpPr>
        <p:spPr>
          <a:xfrm>
            <a:off x="548640" y="4416552"/>
            <a:ext cx="26517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441655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시멘트 밀·분말도</a:t>
            </a:r>
            <a:endParaRPr lang="en-US" sz="1400" dirty="0"/>
          </a:p>
        </p:txBody>
      </p:sp>
      <p:sp>
        <p:nvSpPr>
          <p:cNvPr id="13" name="Source 5"/>
          <p:cNvSpPr/>
          <p:nvPr/>
        </p:nvSpPr>
        <p:spPr>
          <a:xfrm>
            <a:off x="548640" y="5202936"/>
            <a:ext cx="26517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20293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물성·강도(LIMS)</a:t>
            </a:r>
            <a:endParaRPr lang="en-US" sz="1400" dirty="0"/>
          </a:p>
        </p:txBody>
      </p:sp>
      <p:sp>
        <p:nvSpPr>
          <p:cNvPr id="15" name="Arrow in"/>
          <p:cNvSpPr/>
          <p:nvPr/>
        </p:nvSpPr>
        <p:spPr>
          <a:xfrm>
            <a:off x="3310128" y="3566160"/>
            <a:ext cx="457200" cy="41148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QMS core"/>
          <p:cNvSpPr/>
          <p:nvPr/>
        </p:nvSpPr>
        <p:spPr>
          <a:xfrm>
            <a:off x="3886200" y="1645920"/>
            <a:ext cx="4892040" cy="4526280"/>
          </a:xfrm>
          <a:prstGeom prst="roundRect">
            <a:avLst>
              <a:gd name="adj" fmla="val 16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0" y="17830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통합 품질관리 시스템(QMS)</a:t>
            </a:r>
            <a:endParaRPr lang="en-US" sz="1600" dirty="0"/>
          </a:p>
        </p:txBody>
      </p:sp>
      <p:sp>
        <p:nvSpPr>
          <p:cNvPr id="18" name="Function 1 circle"/>
          <p:cNvSpPr/>
          <p:nvPr/>
        </p:nvSpPr>
        <p:spPr>
          <a:xfrm>
            <a:off x="4114800" y="2240280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Functi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7695" y="2363175"/>
            <a:ext cx="266273" cy="266273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4754880" y="2240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① 모니터링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58개 항목 추세 · 공정별 상태판</a:t>
            </a:r>
            <a:endParaRPr lang="en-US" sz="1300" dirty="0"/>
          </a:p>
        </p:txBody>
      </p:sp>
      <p:sp>
        <p:nvSpPr>
          <p:cNvPr id="22" name="Function 2 circle"/>
          <p:cNvSpPr/>
          <p:nvPr/>
        </p:nvSpPr>
        <p:spPr>
          <a:xfrm>
            <a:off x="4114800" y="3008376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Functi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695" y="3131271"/>
            <a:ext cx="266273" cy="266273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4754880" y="30083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② 판정·알림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4754880" y="32826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KS · 사내기준 · SPC 3단계</a:t>
            </a:r>
            <a:endParaRPr lang="en-US" sz="1300" dirty="0"/>
          </a:p>
        </p:txBody>
      </p:sp>
      <p:sp>
        <p:nvSpPr>
          <p:cNvPr id="26" name="Function 3 circle"/>
          <p:cNvSpPr/>
          <p:nvPr/>
        </p:nvSpPr>
        <p:spPr>
          <a:xfrm>
            <a:off x="4114800" y="3776472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7" name="Functi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695" y="3899367"/>
            <a:ext cx="266273" cy="266273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4754880" y="3776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③ 원인 진단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4754880" y="4050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5축 가설 + 데이터 근거 점수</a:t>
            </a:r>
            <a:endParaRPr lang="en-US" sz="1300" dirty="0"/>
          </a:p>
        </p:txBody>
      </p:sp>
      <p:sp>
        <p:nvSpPr>
          <p:cNvPr id="30" name="Function 4 circle"/>
          <p:cNvSpPr/>
          <p:nvPr/>
        </p:nvSpPr>
        <p:spPr>
          <a:xfrm>
            <a:off x="4114800" y="454456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Function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7695" y="4667463"/>
            <a:ext cx="266273" cy="266273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754880" y="4544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④ 조기 예측</a:t>
            </a:r>
            <a:endParaRPr lang="en-US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4754880" y="4818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28일 강도 회귀 예측</a:t>
            </a:r>
            <a:endParaRPr lang="en-US" sz="1300" dirty="0"/>
          </a:p>
        </p:txBody>
      </p:sp>
      <p:sp>
        <p:nvSpPr>
          <p:cNvPr id="34" name="Function 5 circle"/>
          <p:cNvSpPr/>
          <p:nvPr/>
        </p:nvSpPr>
        <p:spPr>
          <a:xfrm>
            <a:off x="4114800" y="5312664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5" name="Function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7695" y="5435559"/>
            <a:ext cx="266273" cy="266273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4754880" y="53126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⑤ 보고</a:t>
            </a:r>
            <a:endParaRPr lang="en-US" sz="1500" dirty="0"/>
          </a:p>
        </p:txBody>
      </p:sp>
      <p:sp>
        <p:nvSpPr>
          <p:cNvPr id="37" name="Text 30"/>
          <p:cNvSpPr txBox="1"/>
          <p:nvPr/>
        </p:nvSpPr>
        <p:spPr>
          <a:xfrm>
            <a:off x="4754880" y="55869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PPT · 엑셀 자동 생성</a:t>
            </a:r>
            <a:endParaRPr lang="en-US" sz="1300" dirty="0"/>
          </a:p>
        </p:txBody>
      </p:sp>
      <p:sp>
        <p:nvSpPr>
          <p:cNvPr id="38" name="Arrow out"/>
          <p:cNvSpPr/>
          <p:nvPr/>
        </p:nvSpPr>
        <p:spPr>
          <a:xfrm>
            <a:off x="8897112" y="3566160"/>
            <a:ext cx="457200" cy="41148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9464040" y="1645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활용</a:t>
            </a:r>
            <a:endParaRPr lang="en-US" sz="1500" dirty="0"/>
          </a:p>
        </p:txBody>
      </p:sp>
      <p:sp>
        <p:nvSpPr>
          <p:cNvPr id="40" name="User 1"/>
          <p:cNvSpPr/>
          <p:nvPr/>
        </p:nvSpPr>
        <p:spPr>
          <a:xfrm>
            <a:off x="9464040" y="2057400"/>
            <a:ext cx="214884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9601200" y="205740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품질팀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분석·판정</a:t>
            </a:r>
            <a:endParaRPr lang="en-US" sz="1400" dirty="0"/>
          </a:p>
        </p:txBody>
      </p:sp>
      <p:sp>
        <p:nvSpPr>
          <p:cNvPr id="42" name="User 2"/>
          <p:cNvSpPr/>
          <p:nvPr/>
        </p:nvSpPr>
        <p:spPr>
          <a:xfrm>
            <a:off x="9464040" y="3044952"/>
            <a:ext cx="214884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9601200" y="3044952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생산팀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원료·소성·분쇄</a:t>
            </a:r>
            <a:endParaRPr lang="en-US" sz="1400" dirty="0"/>
          </a:p>
        </p:txBody>
      </p:sp>
      <p:sp>
        <p:nvSpPr>
          <p:cNvPr id="44" name="User 3"/>
          <p:cNvSpPr/>
          <p:nvPr/>
        </p:nvSpPr>
        <p:spPr>
          <a:xfrm>
            <a:off x="9464040" y="4032504"/>
            <a:ext cx="214884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9601200" y="4032504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설비팀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점검·정비</a:t>
            </a:r>
            <a:endParaRPr lang="en-US" sz="1400" dirty="0"/>
          </a:p>
        </p:txBody>
      </p:sp>
      <p:sp>
        <p:nvSpPr>
          <p:cNvPr id="46" name="User 4"/>
          <p:cNvSpPr/>
          <p:nvPr/>
        </p:nvSpPr>
        <p:spPr>
          <a:xfrm>
            <a:off x="9464040" y="5020056"/>
            <a:ext cx="214884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9601200" y="5020056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경영진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현황·의사결정</a:t>
            </a:r>
            <a:endParaRPr lang="en-US" sz="1400" dirty="0"/>
          </a:p>
        </p:txBody>
      </p:sp>
      <p:sp>
        <p:nvSpPr>
          <p:cNvPr id="48" name="Text 0"/>
          <p:cNvSpPr/>
          <p:nvPr>
            <p:ph idx="102" type="body" hasCustomPrompt="1"/>
          </p:nvPr>
        </p:nvSpPr>
        <p:spPr>
          <a:xfrm>
            <a:off x="548640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알림 채널: 대시보드 · 이메일 · 메신저(웹훅) / 실행 환경: 사내 PC·서버(Python·Streamlit 오픈소스)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3단계 판정 기준과 알림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규격을 벗어나기 전에 이상 징후를 잡도록 세 단계로 판정합니다</a:t>
            </a:r>
            <a:endParaRPr lang="en-US" sz="1700" dirty="0"/>
          </a:p>
        </p:txBody>
      </p:sp>
      <p:sp>
        <p:nvSpPr>
          <p:cNvPr id="4" name="Tier 위험"/>
          <p:cNvSpPr/>
          <p:nvPr/>
        </p:nvSpPr>
        <p:spPr>
          <a:xfrm>
            <a:off x="548640" y="1691640"/>
            <a:ext cx="70866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us 위험"/>
          <p:cNvSpPr/>
          <p:nvPr/>
        </p:nvSpPr>
        <p:spPr>
          <a:xfrm>
            <a:off x="777240" y="1892808"/>
            <a:ext cx="105156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CFD8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9280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● </a:t>
            </a:r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위험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18745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KS L 5201 규격 이탈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2286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예) 시멘트 SO₃ 3.5% 초과(1종), 28일 강도 42.5 MPa 미만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2606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→ 즉시 출하 판정 · 공장장 보고</a:t>
            </a:r>
            <a:endParaRPr lang="en-US" sz="1400" dirty="0"/>
          </a:p>
        </p:txBody>
      </p:sp>
      <p:sp>
        <p:nvSpPr>
          <p:cNvPr id="10" name="Tier 경고"/>
          <p:cNvSpPr/>
          <p:nvPr/>
        </p:nvSpPr>
        <p:spPr>
          <a:xfrm>
            <a:off x="548640" y="3200400"/>
            <a:ext cx="70866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tatus 경고"/>
          <p:cNvSpPr/>
          <p:nvPr/>
        </p:nvSpPr>
        <p:spPr>
          <a:xfrm>
            <a:off x="777240" y="3401568"/>
            <a:ext cx="105156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CFD8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40156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● </a:t>
            </a:r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경고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33832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사내 관리기준 이탈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3794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예) f-CaO 1.8% 초과, 분말도 3,250 미만, 양생수 온도 이탈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057400" y="41148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→ 당일 원인 조사</a:t>
            </a:r>
            <a:endParaRPr lang="en-US" sz="1400" dirty="0"/>
          </a:p>
        </p:txBody>
      </p:sp>
      <p:sp>
        <p:nvSpPr>
          <p:cNvPr id="16" name="Tier 주의"/>
          <p:cNvSpPr/>
          <p:nvPr/>
        </p:nvSpPr>
        <p:spPr>
          <a:xfrm>
            <a:off x="548640" y="4709160"/>
            <a:ext cx="70866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tatus 주의"/>
          <p:cNvSpPr/>
          <p:nvPr/>
        </p:nvSpPr>
        <p:spPr>
          <a:xfrm>
            <a:off x="777240" y="4910328"/>
            <a:ext cx="105156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CFD8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91032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● </a:t>
            </a:r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주의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057400" y="4892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SPC 판정규칙 위반(규격 이내)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2057400" y="53035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예) 생료 LSF 8시간 평균이 9회 연속 중심선 위(평균 이동)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057400" y="56235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→ 3일 내 점검</a:t>
            </a:r>
            <a:endParaRPr lang="en-US" sz="1400" dirty="0"/>
          </a:p>
        </p:txBody>
      </p:sp>
      <p:sp>
        <p:nvSpPr>
          <p:cNvPr id="22" name="Fatigue card"/>
          <p:cNvSpPr/>
          <p:nvPr/>
        </p:nvSpPr>
        <p:spPr>
          <a:xfrm>
            <a:off x="7909560" y="1691640"/>
            <a:ext cx="3703320" cy="4526280"/>
          </a:xfrm>
          <a:prstGeom prst="roundRect">
            <a:avLst>
              <a:gd name="adj" fmla="val 19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38160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알림 피로도 관리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23317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이어지는 위반점은 1건의 이벤트로 묶음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규격 이탈과 겹친 SPC 패턴은 '동반 패턴'으로 기록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1~2시간 간격 데이터는 8시간 평균으로 SPC 판정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예측값 경보는 최고 '경고'로 제한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5166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데모 4개월 결과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위험 1 · 경고 34 · 주의 94건 (하루 약 1건)</a:t>
            </a:r>
            <a:endParaRPr lang="en-US" sz="1400" dirty="0"/>
          </a:p>
        </p:txBody>
      </p:sp>
      <p:sp>
        <p:nvSpPr>
          <p:cNvPr id="26" name="Text 0"/>
          <p:cNvSpPr/>
          <p:nvPr>
            <p:ph idx="102" type="body" hasCustomPrompt="1"/>
          </p:nvPr>
        </p:nvSpPr>
        <p:spPr>
          <a:xfrm>
            <a:off x="548640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근거: KS L 5201 포틀랜드 시멘트(e나라표준인증·한국시멘트협회 요약) · 사내 기준 초기값은 경험칙(추정) → 정의서로 확정 예정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원인 진단 방식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모든 이상을 같은 5단계 틀로 분석하고, 데이터 근거로 원인 순위를 정합니다</a:t>
            </a:r>
            <a:endParaRPr lang="en-US" sz="1700" dirty="0"/>
          </a:p>
        </p:txBody>
      </p:sp>
      <p:sp>
        <p:nvSpPr>
          <p:cNvPr id="4" name="Step 1"/>
          <p:cNvSpPr/>
          <p:nvPr/>
        </p:nvSpPr>
        <p:spPr>
          <a:xfrm>
            <a:off x="548640" y="171907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19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70078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현상 정의·정량화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20208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기간 · 이탈 점수 · 기준 대비 편차(σ)</a:t>
            </a:r>
            <a:endParaRPr lang="en-US" sz="1300" dirty="0"/>
          </a:p>
        </p:txBody>
      </p:sp>
      <p:sp>
        <p:nvSpPr>
          <p:cNvPr id="8" name="Step 2"/>
          <p:cNvSpPr/>
          <p:nvPr/>
        </p:nvSpPr>
        <p:spPr>
          <a:xfrm>
            <a:off x="548640" y="2615184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15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59689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원인 가설 우선순위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29169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화학 · 원료 · 공정 · 설비 · 시험오차 5축</a:t>
            </a:r>
            <a:endParaRPr lang="en-US" sz="1300" dirty="0"/>
          </a:p>
        </p:txBody>
      </p:sp>
      <p:sp>
        <p:nvSpPr>
          <p:cNvPr id="12" name="Step 3"/>
          <p:cNvSpPr/>
          <p:nvPr/>
        </p:nvSpPr>
        <p:spPr>
          <a:xfrm>
            <a:off x="548640" y="351129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511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4930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확인 방법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38130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검증할 데이터 · 시험 항목 제시</a:t>
            </a:r>
            <a:endParaRPr lang="en-US" sz="1300" dirty="0"/>
          </a:p>
        </p:txBody>
      </p:sp>
      <p:sp>
        <p:nvSpPr>
          <p:cNvPr id="16" name="Step 4"/>
          <p:cNvSpPr/>
          <p:nvPr/>
        </p:nvSpPr>
        <p:spPr>
          <a:xfrm>
            <a:off x="548640" y="440740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407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4389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단기 조치 vs 근본 대책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4709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확산 방지와 재발 방지를 구분</a:t>
            </a:r>
            <a:endParaRPr lang="en-US" sz="1300" dirty="0"/>
          </a:p>
        </p:txBody>
      </p:sp>
      <p:sp>
        <p:nvSpPr>
          <p:cNvPr id="20" name="Step 5"/>
          <p:cNvSpPr/>
          <p:nvPr/>
        </p:nvSpPr>
        <p:spPr>
          <a:xfrm>
            <a:off x="548640" y="53035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303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52852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KS · 관리기준 평가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298448" y="56052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규격 적합 여부 · 여유 · 출하 판단</a:t>
            </a:r>
            <a:endParaRPr lang="en-US" sz="1300" dirty="0"/>
          </a:p>
        </p:txBody>
      </p:sp>
      <p:sp>
        <p:nvSpPr>
          <p:cNvPr id="24" name="Scoring card"/>
          <p:cNvSpPr/>
          <p:nvPr/>
        </p:nvSpPr>
        <p:spPr>
          <a:xfrm>
            <a:off x="6035040" y="1691640"/>
            <a:ext cx="5577840" cy="4526280"/>
          </a:xfrm>
          <a:prstGeom prst="roundRect">
            <a:avLst>
              <a:gd name="adj" fmla="val 16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3640" y="184708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근거 점수 산출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22402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관련 데이터의 변화(이벤트 구간 vs 직전 14일)를 효과크기(σ)로 계산 → 근거 점수 0~100</a:t>
            </a:r>
            <a:endParaRPr lang="en-US" sz="1400" dirty="0"/>
          </a:p>
        </p:txBody>
      </p:sp>
      <p:sp>
        <p:nvSpPr>
          <p:cNvPr id="27" name="Axis 화학 circle"/>
          <p:cNvSpPr/>
          <p:nvPr/>
        </p:nvSpPr>
        <p:spPr>
          <a:xfrm>
            <a:off x="6355080" y="297180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8" name="Axis 화학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1143" y="3107863"/>
            <a:ext cx="294803" cy="294803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6126480" y="358444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화학</a:t>
            </a:r>
            <a:endParaRPr lang="en-US" sz="1300" dirty="0"/>
          </a:p>
        </p:txBody>
      </p:sp>
      <p:sp>
        <p:nvSpPr>
          <p:cNvPr id="30" name="Axis 원료 circle"/>
          <p:cNvSpPr/>
          <p:nvPr/>
        </p:nvSpPr>
        <p:spPr>
          <a:xfrm>
            <a:off x="7379208" y="297180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Axis 원료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5271" y="3107863"/>
            <a:ext cx="294803" cy="294803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7150608" y="358444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원료</a:t>
            </a:r>
            <a:endParaRPr lang="en-US" sz="1300" dirty="0"/>
          </a:p>
        </p:txBody>
      </p:sp>
      <p:sp>
        <p:nvSpPr>
          <p:cNvPr id="33" name="Axis 공정 circle"/>
          <p:cNvSpPr/>
          <p:nvPr/>
        </p:nvSpPr>
        <p:spPr>
          <a:xfrm>
            <a:off x="8403336" y="297180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4" name="Axis 공정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399" y="3107863"/>
            <a:ext cx="294803" cy="294803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8174736" y="358444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공정</a:t>
            </a:r>
            <a:endParaRPr lang="en-US" sz="1300" dirty="0"/>
          </a:p>
        </p:txBody>
      </p:sp>
      <p:sp>
        <p:nvSpPr>
          <p:cNvPr id="36" name="Axis 설비 circle"/>
          <p:cNvSpPr/>
          <p:nvPr/>
        </p:nvSpPr>
        <p:spPr>
          <a:xfrm>
            <a:off x="9427464" y="297180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7" name="Axis 설비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3527" y="3107863"/>
            <a:ext cx="294803" cy="294803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9198864" y="358444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설비</a:t>
            </a:r>
            <a:endParaRPr lang="en-US" sz="1300" dirty="0"/>
          </a:p>
        </p:txBody>
      </p:sp>
      <p:sp>
        <p:nvSpPr>
          <p:cNvPr id="39" name="Axis 시험오차 circle"/>
          <p:cNvSpPr/>
          <p:nvPr/>
        </p:nvSpPr>
        <p:spPr>
          <a:xfrm>
            <a:off x="10451592" y="297180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0" name="Axis 시험오차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7655" y="3107863"/>
            <a:ext cx="294803" cy="294803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10222992" y="358444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시험오차</a:t>
            </a:r>
            <a:endParaRPr lang="en-US" sz="1300" dirty="0"/>
          </a:p>
        </p:txBody>
      </p:sp>
      <p:sp>
        <p:nvSpPr>
          <p:cNvPr id="42" name="Text 35"/>
          <p:cNvSpPr txBox="1"/>
          <p:nvPr/>
        </p:nvSpPr>
        <p:spPr>
          <a:xfrm>
            <a:off x="6263640" y="4069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판정 표기 — 사실과 추정을 구분</a:t>
            </a:r>
            <a:endParaRPr lang="en-US" sz="1500" dirty="0"/>
          </a:p>
        </p:txBody>
      </p:sp>
      <p:sp>
        <p:nvSpPr>
          <p:cNvPr id="43" name="Text 36"/>
          <p:cNvSpPr txBox="1"/>
          <p:nvPr/>
        </p:nvSpPr>
        <p:spPr>
          <a:xfrm>
            <a:off x="6263640" y="44348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데이터 지지: 예상 변화가 측정 데이터로 확인됨(사실)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데이터 없음: 측정값이 없어 경험칙으로 제시(추정)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반증: 예상 변화가 데이터에 나타나지 않음</a:t>
            </a:r>
            <a:endParaRPr lang="en-US" sz="1400" dirty="0"/>
          </a:p>
        </p:txBody>
      </p:sp>
      <p:sp>
        <p:nvSpPr>
          <p:cNvPr id="44" name="Text 37"/>
          <p:cNvSpPr txBox="1"/>
          <p:nvPr/>
        </p:nvSpPr>
        <p:spPr>
          <a:xfrm>
            <a:off x="6263640" y="5623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지식베이스: 33개 현상 · 144개 원인 가설(확인 방법·조치 포함)</a:t>
            </a:r>
            <a:endParaRPr lang="en-US" sz="1300" dirty="0"/>
          </a:p>
        </p:txBody>
      </p:sp>
      <p:sp>
        <p:nvSpPr>
          <p:cNvPr id="45" name="Text 0"/>
          <p:cNvSpPr/>
          <p:nvPr>
            <p:ph idx="102" type="body" hasCustomPrompt="1"/>
          </p:nvPr>
        </p:nvSpPr>
        <p:spPr>
          <a:xfrm>
            <a:off x="548640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※ 지식베이스의 정량 경험칙(예: 분말도 100 cm²/g 당 강도 변화)은 공장 데이터로 검증 후 보정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진단 예시: 28일 강도 저하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데이터가 '소성 부족'을 1순위 원인으로 특정했습니다 (데모 시나리오 S1)</a:t>
            </a:r>
            <a:endParaRPr lang="en-US" sz="1700" dirty="0"/>
          </a:p>
        </p:txBody>
      </p:sp>
      <p:sp>
        <p:nvSpPr>
          <p:cNvPr id="4" name="Phenomenon card"/>
          <p:cNvSpPr/>
          <p:nvPr/>
        </p:nvSpPr>
        <p:spPr>
          <a:xfrm>
            <a:off x="548640" y="1691640"/>
            <a:ext cx="3657600" cy="452628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470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① 현상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67712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28일 강도(1종) 9로트 연속 중심선 아래(평균 이동)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평균 50.4 MPa — 직전 53 대비 -2.6 MPa (-2.3σ)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최소 48.5 MPa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0690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⑤ KS·사내기준 평가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4805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KS 42.5 MPa: 적합 (하한 여유 +6.0 MPa)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사내 48 MPa: 적합 → 규격 이탈 전 조기 대응 단계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691640"/>
          <a:ext cx="713232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777240"/>
                <a:gridCol w="1965960"/>
                <a:gridCol w="1188720"/>
                <a:gridCol w="26974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순위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축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원인 가설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판정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핵심 데이터 근거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공정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소성 부족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데이터 지지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f-CaO 1.06→1.94% (+3.7σ)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화학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클링커 C₃S 저하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데이터 지지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C₃S 57.3→53.4% (-3.7σ)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설비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클링커 냉각 불량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데이터 지지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2차 공기 온도 1,054→1,011℃ (-2.7σ)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공정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분말도 저하·입도분포 조대화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근거 약함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분말도 변화 없음 (-0.3σ)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화학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SO₃ 최적치 이탈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근거 약함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SO₃ 변화 없음 (+0.1σ)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ort-term card"/>
          <p:cNvSpPr/>
          <p:nvPr/>
        </p:nvSpPr>
        <p:spPr>
          <a:xfrm>
            <a:off x="4480560" y="4572000"/>
            <a:ext cx="347472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4663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④ 단기 조치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50292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f-CaO 기준 초과 클링커 분리 저장 또는 혼합 비율 제한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소성 강화 및 원료 투입량 일시 감량</a:t>
            </a:r>
            <a:endParaRPr lang="en-US" sz="1400" dirty="0"/>
          </a:p>
        </p:txBody>
      </p:sp>
      <p:sp>
        <p:nvSpPr>
          <p:cNvPr id="13" name="Root-cause card"/>
          <p:cNvSpPr/>
          <p:nvPr/>
        </p:nvSpPr>
        <p:spPr>
          <a:xfrm>
            <a:off x="8138160" y="4572000"/>
            <a:ext cx="347472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21040" y="4663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④ 근본 대책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502920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석탄 입고 품질 기준(발열량 하한) 및 혼탄 관리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f-CaO 기반 소성 피드백 운전 기준서 수립</a:t>
            </a:r>
            <a:endParaRPr lang="en-US" sz="1400" dirty="0"/>
          </a:p>
        </p:txBody>
      </p:sp>
      <p:sp>
        <p:nvSpPr>
          <p:cNvPr id="16" name="Text 0"/>
          <p:cNvSpPr/>
          <p:nvPr>
            <p:ph idx="102" type="body" hasCustomPrompt="1"/>
          </p:nvPr>
        </p:nvSpPr>
        <p:spPr>
          <a:xfrm>
            <a:off x="548640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데모 시나리오 S1(석탄 발열량 저하를 주입) 결과 · 근거 수치는 시스템 자동 산출값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28일 강도 조기 예측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28일 결과를 기다리지 않고 3·7일 시점에 미달 위험을 미리 경보합니다</a:t>
            </a:r>
            <a:endParaRPr lang="en-US" sz="1700" dirty="0"/>
          </a:p>
        </p:txBody>
      </p:sp>
      <p:graphicFrame>
        <p:nvGraphicFramePr>
          <p:cNvPr id="4" name="Strength chart" descr=""/>
          <p:cNvGraphicFramePr/>
          <p:nvPr/>
        </p:nvGraphicFramePr>
        <p:xfrm>
          <a:off x="548640" y="1645920"/>
          <a:ext cx="72237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Model card"/>
          <p:cNvSpPr/>
          <p:nvPr/>
        </p:nvSpPr>
        <p:spPr>
          <a:xfrm>
            <a:off x="8046720" y="169164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0" y="18105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예측 모델 정확도(1종)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0" y="2212848"/>
          <a:ext cx="3200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4008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입력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R²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오차(RMSE)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7일 강도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0.42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1.18 MPa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3일 강도+화학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0.48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1.14 MPa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화학·분말도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1.13 MPa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Callout card"/>
          <p:cNvSpPr/>
          <p:nvPr/>
        </p:nvSpPr>
        <p:spPr>
          <a:xfrm>
            <a:off x="8046720" y="4206240"/>
            <a:ext cx="35661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29600" y="434340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조기 경보 사례(S3)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분말도가 떨어진 4개 로트를 3일 강도 시점에 '46.2~46.7 MPa(사내 48 미달)'로 경보 → 28일 결과 전에 조치 가능</a:t>
            </a:r>
            <a:endParaRPr lang="en-US" sz="1400" dirty="0"/>
          </a:p>
        </p:txBody>
      </p:sp>
      <p:sp>
        <p:nvSpPr>
          <p:cNvPr id="10" name="Text 0"/>
          <p:cNvSpPr/>
          <p:nvPr>
            <p:ph idx="102" type="body" hasCustomPrompt="1"/>
          </p:nvPr>
        </p:nvSpPr>
        <p:spPr>
          <a:xfrm>
            <a:off x="548640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데모 데이터 학습 결과(약 80로트, 오차=LOO 기준) — 예측값은 추정치이며 실측으로 확정. 실데이터로 재학습 필요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1단계 구현 결과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웹 대시보드 10개 화면을 구현했습니다 — 사내 PC에서 바로 실행</a:t>
            </a:r>
            <a:endParaRPr lang="en-US" sz="1700" dirty="0"/>
          </a:p>
        </p:txBody>
      </p:sp>
      <p:pic>
        <p:nvPicPr>
          <p:cNvPr id="4" name="Screen overview" descr="/home/user/Blue365/docs/img/screen_overvi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5440680" cy="3777872"/>
          </a:xfrm>
          <a:prstGeom prst="rect">
            <a:avLst/>
          </a:prstGeom>
        </p:spPr>
      </p:pic>
      <p:pic>
        <p:nvPicPr>
          <p:cNvPr id="5" name="Screen diagnosis" descr="/home/user/Blue365/docs/img/screen_diagnosi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440680" cy="377787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515232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종합 현황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위험·경고·주의 건수, 공정별 상태 신호등, 28일 강도 추이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6172200" y="5515232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원인 진단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5축 원인 순위·근거 점수, 조치, KS 평가, PPT 자동 생성</a:t>
            </a:r>
            <a:endParaRPr lang="en-US" sz="1300" dirty="0"/>
          </a:p>
        </p:txBody>
      </p:sp>
      <p:sp>
        <p:nvSpPr>
          <p:cNvPr id="8" name="Text 0"/>
          <p:cNvSpPr/>
          <p:nvPr>
            <p:ph idx="102" type="body" hasCustomPrompt="1"/>
          </p:nvPr>
        </p:nvSpPr>
        <p:spPr>
          <a:xfrm>
            <a:off x="548640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화면: 종합 현황 · 공정 모니터링 · SPC·공정능력 · 알림 센터 · 원인 진단 · 28일 강도 예측 · 화학 계산기 · 보고서 · 데이터 관리 · 기준·알림 설정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검증 결과 (데모 데이터)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이상 시나리오 6종을 모두 감지했고, 1순위 진단이 주입한 원인과 일치했습니다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514600"/>
                <a:gridCol w="3520440"/>
                <a:gridCol w="251460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시나리오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주입한 원인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시스템 알림(심각도)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1순위 진단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판정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석탄 발열량 저하 → 소성 부족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C835A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경고  f-CaO 사내기준 상한 초과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[공정] 소성 부족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데이터 지지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D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(동일 원인의 제품 영향)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AB219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주의  28일 강도 9연속 평균 이동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[공정] 소성 부족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데이터 지지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D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석회석 백운석 혼입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C835A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경고  오토클레이브 팽창 사내기준 상한 초과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[원료] MgO 증가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데이터 지지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D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석회석 품위 변화·조합 보정 지연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C835A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경고  f-CaO 사내기준 상한 초과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[원료] 생료 LSF 과다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데이터 지지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D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양생수조 온도 이탈(시험오차)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C835A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경고  28일 강도 사내기준 하한 미달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[시험오차] 시험 조건 이탈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데이터 지지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D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S4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석고 정량공급기 이상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03B3B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위험  시멘트 SO₃ KS 규격 상한 초과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[설비] 석고 정량공급기 이상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데이터 없음(추정)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세퍼레이터 이상 → 분말도 저하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C835A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경고  3일 강도 사내기준 하한 미달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[공정] 분말도 저하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데이터 지지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D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(28일 예측 조기 경보)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C835A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경고  28일 예측 사내기준 하한 미달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[공정] 분말도 저하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데이터 지지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D8"/>
                    </a:solidFill>
                  </a:tcPr>
                </a:tc>
              </a:tr>
            </a:tbl>
          </a:graphicData>
        </a:graphic>
      </p:graphicFrame>
      <p:sp>
        <p:nvSpPr>
          <p:cNvPr id="5" name="Note S4"/>
          <p:cNvSpPr/>
          <p:nvPr/>
        </p:nvSpPr>
        <p:spPr>
          <a:xfrm>
            <a:off x="548640" y="5486400"/>
            <a:ext cx="54406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22976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S4(석고 공급기 이상): 측정 데이터가 없는 설비 원인 → '데이터 없음(추정)'으로 표시하고 현장 확인을 지시</a:t>
            </a:r>
            <a:endParaRPr lang="en-US" sz="1200" dirty="0"/>
          </a:p>
        </p:txBody>
      </p:sp>
      <p:sp>
        <p:nvSpPr>
          <p:cNvPr id="7" name="Note tests"/>
          <p:cNvSpPr/>
          <p:nvPr/>
        </p:nvSpPr>
        <p:spPr>
          <a:xfrm>
            <a:off x="6172200" y="5486400"/>
            <a:ext cx="54406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55080" y="5522976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자동 테스트 55건 통과 — 계산식(Bogue·LSF), 판정규칙, 알림 묶음, 원인 진단, 예측, 보고서, 10개 화면</a:t>
            </a:r>
            <a:endParaRPr lang="en-US" sz="1200" dirty="0"/>
          </a:p>
        </p:txBody>
      </p:sp>
      <p:sp>
        <p:nvSpPr>
          <p:cNvPr id="9" name="Text 0"/>
          <p:cNvSpPr/>
          <p:nvPr>
            <p:ph idx="102" type="body" hasCustomPrompt="1"/>
          </p:nvPr>
        </p:nvSpPr>
        <p:spPr>
          <a:xfrm>
            <a:off x="548640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가상 공장 데이터(120일, 생료·클링커·시멘트 2시간, 킬른 1시간, 물성 1일) 기준 — 실제 성능은 2단계 시범 운영에서 검증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단계별 추진 계획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2단계 실데이터 시범 운영(2~3개월)으로 기준과 모델을 공장에 맞춥니다</a:t>
            </a:r>
            <a:endParaRPr lang="en-US" sz="1700" dirty="0"/>
          </a:p>
        </p:txBody>
      </p:sp>
      <p:sp>
        <p:nvSpPr>
          <p:cNvPr id="4" name="Phase 1"/>
          <p:cNvSpPr/>
          <p:nvPr/>
        </p:nvSpPr>
        <p:spPr>
          <a:xfrm>
            <a:off x="548640" y="1691640"/>
            <a:ext cx="2606040" cy="45262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us 완료"/>
          <p:cNvSpPr/>
          <p:nvPr/>
        </p:nvSpPr>
        <p:spPr>
          <a:xfrm>
            <a:off x="731520" y="1874520"/>
            <a:ext cx="91440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CFD8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● </a:t>
            </a:r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완료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1단계 MVP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2026년 10월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246120"/>
            <a:ext cx="2286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모니터링·알림·진단·예측·보고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엑셀 업로드·데모 데이터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관리기준 정의서·계획서</a:t>
            </a:r>
            <a:endParaRPr lang="en-US" sz="1400" dirty="0"/>
          </a:p>
        </p:txBody>
      </p:sp>
      <p:sp>
        <p:nvSpPr>
          <p:cNvPr id="10" name="Phase arrow 1"/>
          <p:cNvSpPr/>
          <p:nvPr/>
        </p:nvSpPr>
        <p:spPr>
          <a:xfrm>
            <a:off x="3182112" y="3749040"/>
            <a:ext cx="173736" cy="27432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Phase 2"/>
          <p:cNvSpPr/>
          <p:nvPr/>
        </p:nvSpPr>
        <p:spPr>
          <a:xfrm>
            <a:off x="3383280" y="1691640"/>
            <a:ext cx="2606040" cy="45262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atus 다음"/>
          <p:cNvSpPr/>
          <p:nvPr/>
        </p:nvSpPr>
        <p:spPr>
          <a:xfrm>
            <a:off x="3566160" y="1874520"/>
            <a:ext cx="91440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CFD8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6160" y="18745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● </a:t>
            </a:r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다음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2단계 실데이터 시범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2~3개월(추정)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246120"/>
            <a:ext cx="2286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실데이터 3개월 적재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사내 기준·SPC 기준기간 확정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예측 모델 재학습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메일·메신저 알림 연결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LIMS·DCS 파일 자동 반영</a:t>
            </a:r>
            <a:endParaRPr lang="en-US" sz="1400" dirty="0"/>
          </a:p>
        </p:txBody>
      </p:sp>
      <p:sp>
        <p:nvSpPr>
          <p:cNvPr id="17" name="Phase arrow 2"/>
          <p:cNvSpPr/>
          <p:nvPr/>
        </p:nvSpPr>
        <p:spPr>
          <a:xfrm>
            <a:off x="6016752" y="3749040"/>
            <a:ext cx="173736" cy="27432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Phase 3"/>
          <p:cNvSpPr/>
          <p:nvPr/>
        </p:nvSpPr>
        <p:spPr>
          <a:xfrm>
            <a:off x="6217920" y="1691640"/>
            <a:ext cx="2606040" cy="45262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atus 계획"/>
          <p:cNvSpPr/>
          <p:nvPr/>
        </p:nvSpPr>
        <p:spPr>
          <a:xfrm>
            <a:off x="6400800" y="1874520"/>
            <a:ext cx="91440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CFD8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18745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● </a:t>
            </a:r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계획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3단계 고도화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3~6개월(추정)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246120"/>
            <a:ext cx="2286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조치 이력 → 지식베이스 학습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입도분포·XRD 반영 예측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원료 조합 최적화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AI 보조 분석(자연어 질의)</a:t>
            </a:r>
            <a:endParaRPr lang="en-US" sz="1400" dirty="0"/>
          </a:p>
        </p:txBody>
      </p:sp>
      <p:sp>
        <p:nvSpPr>
          <p:cNvPr id="24" name="Phase arrow 3"/>
          <p:cNvSpPr/>
          <p:nvPr/>
        </p:nvSpPr>
        <p:spPr>
          <a:xfrm>
            <a:off x="8851392" y="3749040"/>
            <a:ext cx="173736" cy="274320"/>
          </a:xfrm>
          <a:prstGeom prst="rightArrow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Phase 4"/>
          <p:cNvSpPr/>
          <p:nvPr/>
        </p:nvSpPr>
        <p:spPr>
          <a:xfrm>
            <a:off x="9052560" y="1691640"/>
            <a:ext cx="2606040" cy="45262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Status 계획"/>
          <p:cNvSpPr/>
          <p:nvPr/>
        </p:nvSpPr>
        <p:spPr>
          <a:xfrm>
            <a:off x="9235440" y="1874520"/>
            <a:ext cx="91440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CFD8D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35440" y="18745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● </a:t>
            </a:r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계획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23544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4단계 확산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923544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추후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235440" y="3246120"/>
            <a:ext cx="2286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DB·OPC-UA 실시간 연계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모바일 알림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타 공정·타 공장 확산</a:t>
            </a:r>
            <a:endParaRPr lang="en-US" sz="1400" dirty="0"/>
          </a:p>
        </p:txBody>
      </p:sp>
      <p:sp>
        <p:nvSpPr>
          <p:cNvPr id="31" name="Text 0"/>
          <p:cNvSpPr/>
          <p:nvPr>
            <p:ph idx="102" type="body" hasCustomPrompt="1"/>
          </p:nvPr>
        </p:nvSpPr>
        <p:spPr>
          <a:xfrm>
            <a:off x="548640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기간은 일반적인 시범 구축 경험에 따른 추정치 — 데이터 연계 범위에 따라 달라질 수 있음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기대 효과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이상을 더 일찍 알고, 같은 기준으로 대응하며, 근거와 기록이 남습니다</a:t>
            </a:r>
            <a:endParaRPr lang="en-US" sz="1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2237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32918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현재(일반적 현황, 추정)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도입 후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이상 인지 시점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28일 강도 결과 확인 후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3·7일 강도 시점 예측 경보 + 공정 지표 상시 감시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원인 분석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담당자 경험 중심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5축 가설 + 데이터 근거 점수 + 확인 방법 제시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판정 기준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문서·개인 파일에 분산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KS + 사내 기준을 시스템에서 단일 관리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보고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수작업 집계·작성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버튼 한 번으로 PPT·엑셀 생성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지식 축적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개인 노하우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지식베이스·조치 이력으로 축적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Measurement card"/>
          <p:cNvSpPr/>
          <p:nvPr/>
        </p:nvSpPr>
        <p:spPr>
          <a:xfrm>
            <a:off x="8046720" y="1691640"/>
            <a:ext cx="3566160" cy="452628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Measure circle"/>
          <p:cNvSpPr/>
          <p:nvPr/>
        </p:nvSpPr>
        <p:spPr>
          <a:xfrm>
            <a:off x="8275320" y="187452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Measur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1383" y="201058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75320" y="25603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정량 효과는 시범 운영으로 측정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275320" y="329184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품질 클레임 감소율·시간 절감 같은 수치는 지금은 근거 데이터가 없어 제시하지 않습니다. 2단계에서 아래 지표를 실측해 보고드리겠습니다.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275320" y="470916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조기 경보 건수·리드타임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이상 대응 소요 시간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보고서 작성 시간</a:t>
            </a:r>
            <a:endParaRPr lang="en-US" sz="1400" dirty="0"/>
          </a:p>
        </p:txBody>
      </p:sp>
      <p:sp>
        <p:nvSpPr>
          <p:cNvPr id="11" name="Text 0"/>
          <p:cNvSpPr/>
          <p:nvPr>
            <p:ph idx="102" type="body" hasCustomPrompt="1"/>
          </p:nvPr>
        </p:nvSpPr>
        <p:spPr>
          <a:xfrm>
            <a:off x="548640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※ '현재' 열은 일반적인 공장 현황(추정) — 당사 현황 확인 후 보완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결정 요청 사항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시범 운영 착수를 위해 세 가지를 요청드립니다</a:t>
            </a:r>
            <a:endParaRPr lang="en-US" sz="1700" dirty="0"/>
          </a:p>
        </p:txBody>
      </p:sp>
      <p:sp>
        <p:nvSpPr>
          <p:cNvPr id="4" name="Ask 1"/>
          <p:cNvSpPr/>
          <p:nvPr/>
        </p:nvSpPr>
        <p:spPr>
          <a:xfrm>
            <a:off x="548640" y="1691640"/>
            <a:ext cx="35661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sk 1 circle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Ask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0738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97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① 시범 운영 승인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546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2단계 실데이터 시범 운영 — 기간 2~3개월(추정), 대상 1종·3종 전 공정</a:t>
            </a:r>
            <a:endParaRPr lang="en-US" sz="1400" dirty="0"/>
          </a:p>
        </p:txBody>
      </p:sp>
      <p:sp>
        <p:nvSpPr>
          <p:cNvPr id="9" name="Ask 2"/>
          <p:cNvSpPr/>
          <p:nvPr/>
        </p:nvSpPr>
        <p:spPr>
          <a:xfrm>
            <a:off x="4297680" y="1691640"/>
            <a:ext cx="35661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Ask 2 circle"/>
          <p:cNvSpPr/>
          <p:nvPr/>
        </p:nvSpPr>
        <p:spPr>
          <a:xfrm>
            <a:off x="4572000" y="1920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Ask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619" y="207385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697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② 데이터 연계 협조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1546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LIMS·DCS 데이터 내보내기, 사내 메일(SMTP)·메신저 연결 — IT·계장 담당</a:t>
            </a:r>
            <a:endParaRPr lang="en-US" sz="1400" dirty="0"/>
          </a:p>
        </p:txBody>
      </p:sp>
      <p:sp>
        <p:nvSpPr>
          <p:cNvPr id="14" name="Ask 3"/>
          <p:cNvSpPr/>
          <p:nvPr/>
        </p:nvSpPr>
        <p:spPr>
          <a:xfrm>
            <a:off x="8046720" y="1691640"/>
            <a:ext cx="356616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Ask 3 circle"/>
          <p:cNvSpPr/>
          <p:nvPr/>
        </p:nvSpPr>
        <p:spPr>
          <a:xfrm>
            <a:off x="8321040" y="1920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Ask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659" y="207385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2697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③ 담당자 지정·기준 확정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1546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원료·소성·분쇄·설비 담당 지정, 정의서 기반 사내 관리기준 확정 회의</a:t>
            </a:r>
            <a:endParaRPr lang="en-US" sz="1400" dirty="0"/>
          </a:p>
        </p:txBody>
      </p:sp>
      <p:sp>
        <p:nvSpPr>
          <p:cNvPr id="19" name="Resources card"/>
          <p:cNvSpPr/>
          <p:nvPr/>
        </p:nvSpPr>
        <p:spPr>
          <a:xfrm>
            <a:off x="548640" y="4526280"/>
            <a:ext cx="548640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77240" y="4617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소요 자원(추정)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777240" y="49834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소프트웨어 비용 0원(오픈소스 Python·Streamlit)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사내 PC 또는 서버 1대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품질 담당 1명 주관 + 관련 부서 협조</a:t>
            </a:r>
            <a:endParaRPr lang="en-US" sz="1400" dirty="0"/>
          </a:p>
        </p:txBody>
      </p:sp>
      <p:sp>
        <p:nvSpPr>
          <p:cNvPr id="22" name="Risk card"/>
          <p:cNvSpPr/>
          <p:nvPr/>
        </p:nvSpPr>
        <p:spPr>
          <a:xfrm>
            <a:off x="6217920" y="4526280"/>
            <a:ext cx="53949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446520" y="4617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리스크와 대응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6446520" y="49834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데이터 품질 → 업로드 검증·이상값 표시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과다 알림 → 3단계 등급·이벤트 묶음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기준 미확정 → 정의서로 확정 후 반영</a:t>
            </a:r>
            <a:endParaRPr lang="en-US" sz="1400" dirty="0"/>
          </a:p>
        </p:txBody>
      </p:sp>
      <p:sp>
        <p:nvSpPr>
          <p:cNvPr id="25" name="Text 0"/>
          <p:cNvSpPr/>
          <p:nvPr>
            <p:ph idx="102" type="body" hasCustomPrompt="1"/>
          </p:nvPr>
        </p:nvSpPr>
        <p:spPr>
          <a:xfrm>
            <a:off x="548640" y="63825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첨부: QMS 관리항목·기준 정의서(엑셀) · 시스템 소스(Blue365 저장소)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38251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365 QMS">
  <a:themeElements>
    <a:clrScheme name="Blue365 QMS">
      <a:dk1>
        <a:srgbClr val="1F2A30"/>
      </a:dk1>
      <a:lt1>
        <a:srgbClr val="FFFFFF"/>
      </a:lt1>
      <a:dk2>
        <a:srgbClr val="5F6B73"/>
      </a:dk2>
      <a:lt2>
        <a:srgbClr val="F1F3F4"/>
      </a:lt2>
      <a:accent1>
        <a:srgbClr val="C2410C"/>
      </a:accent1>
      <a:accent2>
        <a:srgbClr val="2A78D6"/>
      </a:accent2>
      <a:accent3>
        <a:srgbClr val="0CA30C"/>
      </a:accent3>
      <a:accent4>
        <a:srgbClr val="EC835A"/>
      </a:accent4>
      <a:accent5>
        <a:srgbClr val="FAB219"/>
      </a:accent5>
      <a:accent6>
        <a:srgbClr val="D03B3B"/>
      </a:accent6>
      <a:hlink>
        <a:srgbClr val="2A78D6"/>
      </a:hlink>
      <a:folHlink>
        <a:srgbClr val="4A3AA7"/>
      </a:folHlink>
    </a:clrScheme>
    <a:fontScheme name="Blue365 QMS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시멘트 통합 품질관리 시스템 구축 계획</dc:title>
  <dc:subject>QMS 1단계 구현 결과 및 추진 계획</dc:subject>
  <dc:creator>품질관리팀</dc:creator>
  <cp:lastModifiedBy>품질관리팀</cp:lastModifiedBy>
  <cp:revision>1</cp:revision>
  <dcterms:created xsi:type="dcterms:W3CDTF">2026-10-07T05:54:34Z</dcterms:created>
  <dcterms:modified xsi:type="dcterms:W3CDTF">2026-10-07T05:54:34Z</dcterms:modified>
</cp:coreProperties>
</file>